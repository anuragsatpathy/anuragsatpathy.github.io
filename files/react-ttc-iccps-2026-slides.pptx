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15EDCE-C314-4593-B3D5-222ACCC287B5}">
  <a:tblStyle styleId="{8515EDCE-C314-4593-B3D5-222ACCC287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bed1dfa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bed1dfa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bed1dfa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bed1dfa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ed1dfae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bed1dfae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f2bbe590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f2bbe590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f2bbe590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0f2bbe590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f2bbe590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f2bbe590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bed1dfae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bed1dfae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ed1dfae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bed1dfa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bed1dfae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bed1dfae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152efe4a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152efe4a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152efe4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152efe4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90d8f7a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90d8f7a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ed1dfae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bed1dfae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bed1dfae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bed1dfae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f2bbe590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0f2bbe590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0f2bbe590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0f2bbe590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f2bbe590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f2bbe590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ed1dfaea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bed1dfae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bed1dfae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bed1dfae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090d8f7a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090d8f7a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bed1dfaea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bed1dfaea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bed1dfaea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bed1dfaea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bed1dfaea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bed1dfae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ed1dfaea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bed1dfaea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bed1dfaea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bed1dfae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bed1dfaea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bed1dfaea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0f2bbe59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0f2bbe59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0f2bbe59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0f2bbe59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bed1dfaea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bed1dfaea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bed1dfae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bed1dfae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0f2bbe59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0f2bbe59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090d8f7a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e090d8f7a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bed1dfaea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dbed1dfae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0f2bbe590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0f2bbe59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bed1dfae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dbed1dfae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bed1dfaea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dbed1dfaea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bed1dfaea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dbed1dfaea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dbed1dfaea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dbed1dfaea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e090d8f7a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e090d8f7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090d8f7a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090d8f7a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dbed1dfaea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dbed1dfaea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dbed1dfaea_0_1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dbed1dfaea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e090d8f7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e090d8f7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090d8f7a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e090d8f7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e090d8f7a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e090d8f7a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dbed1dfaea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dbed1dfaea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e960c35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e960c35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e960c352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e960c352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e960c3522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e960c3522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e32467c3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e32467c3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e32467c35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e32467c35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e38c785f1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e38c785f1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e38c785f19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e38c785f19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e38c785f19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e38c785f19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e38c785f19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e38c785f19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e9d893abf5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e9d893abf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e9d893abf5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3e9d893abf5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e9d893abf5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e9d893abf5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e4d49ab3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e4d49ab3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e4d49ab3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3e4d49ab3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e4d49ab33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e4d49ab33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e4d49ab33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e4d49ab33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e4d49ab33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e4d49ab33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e4d49ab332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3e4d49ab332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e4d49ab33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e4d49ab33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hyperlink" Target="http://mst.edu" TargetMode="External"/><Relationship Id="rId5" Type="http://schemas.openxmlformats.org/officeDocument/2006/relationships/hyperlink" Target="https://www.iiitm.ac.in/index.php/en/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5539" y="856104"/>
            <a:ext cx="8430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ReACT-TTC: Capacity-Aware Resource Reassignment in Shared Cyber-Physical Systems</a:t>
            </a:r>
            <a:r>
              <a:rPr b="1" lang="en" sz="9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4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 title="Missouri-S&amp;T_PrimaryLogo_DigitalMiner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4626" y="4147972"/>
            <a:ext cx="1031836" cy="7446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3550" y="1805350"/>
            <a:ext cx="87969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b="1" i="1" lang="en" sz="15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Anurag Satpathy</a:t>
            </a:r>
            <a:endParaRPr b="1" i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Anurag Satpathy*, Arindam Khanda*, Chittaranjan Swain</a:t>
            </a:r>
            <a:r>
              <a:rPr b="1" baseline="30000"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</a:t>
            </a:r>
            <a:r>
              <a:rPr b="1"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Sajal K. Das*</a:t>
            </a:r>
            <a:endParaRPr b="1" baseline="300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n" sz="1100">
                <a:solidFill>
                  <a:srgbClr val="1F1F1F"/>
                </a:solidFill>
                <a:highlight>
                  <a:srgbClr val="F8FA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CReWMaN</a:t>
            </a:r>
            <a:r>
              <a:rPr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Lab, Missouri University of Science and Technology, USA</a:t>
            </a:r>
            <a:endParaRPr sz="1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aseline="30000"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</a:t>
            </a:r>
            <a:r>
              <a:rPr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Indian Institute of Information Technology and Management, Gwalior</a:t>
            </a:r>
            <a:endParaRPr sz="1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{anurag.satpathy, akkcm, sdas}@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mst.edu</a:t>
            </a:r>
            <a:r>
              <a:rPr lang="en" sz="1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cswain@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iiitm.ac.in</a:t>
            </a:r>
            <a:endParaRPr sz="1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056050" y="4468375"/>
            <a:ext cx="563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work was supported by the NSF grants:  OAC-2104078 (CANDY), ECCS-2319995 (SOTERIA),  PFI-2431990, and SaTC-2030624 (TAURUS).</a:t>
            </a:r>
            <a:endParaRPr sz="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13" title="1192px-NSF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4738" y="3930462"/>
            <a:ext cx="612512" cy="61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025" y="4147963"/>
            <a:ext cx="1758058" cy="9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23580" y="141049"/>
            <a:ext cx="1173909" cy="61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97775" y="154125"/>
            <a:ext cx="8381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4625" y="986438"/>
            <a:ext cx="34380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17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</a:t>
            </a: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 Trading Cycle based </a:t>
            </a: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Reassignment</a:t>
            </a: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Framework</a:t>
            </a:r>
            <a:endParaRPr b="1" sz="17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Analysis</a:t>
            </a:r>
            <a:endParaRPr b="1" sz="17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b="1" sz="17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17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4" title="ChatGPT Image May 11, 2026, 05_40_3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1821" y="654912"/>
            <a:ext cx="4152076" cy="415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59199" y="106421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Instances of Deviation in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CPS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5" title="ChatGPT Image Apr 26, 2026, 11_48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55" y="968600"/>
            <a:ext cx="2355487" cy="1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2975" y="4264000"/>
            <a:ext cx="9120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Djavadian, S. et al. Empirical evaluation of drivers’ route choice behavioral responses to social navigation. TRR,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441130" y="1107885"/>
            <a:ext cx="2254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30-60%</a:t>
            </a:r>
            <a:r>
              <a:rPr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override navigation recommendation [1].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routes, avoiding tolls, perceived traffic inaccuracies,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concerns,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scenic preference.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159199" y="106421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Instances of Deviation in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6" title="ChatGPT Image Apr 26, 2026, 11_48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55" y="968600"/>
            <a:ext cx="2355487" cy="1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2975" y="4264000"/>
            <a:ext cx="9120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Djavadian, S. et al. Empirical evaluation of drivers’ route choice behavioral responses to social navigation. TRR,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Ji, Y. et al. Understanding drivers’ perspective on parking guidance information. IET ITS,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6" title="ChatGPT Image Apr 26, 2026, 12_05_4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345" y="916778"/>
            <a:ext cx="2355475" cy="170939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7120638" y="958642"/>
            <a:ext cx="21417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15-35%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parking recommendations [2]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Perceived parking difficulty, safety concerns, proximity preference, prior parking experience.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441130" y="1107885"/>
            <a:ext cx="2254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30-60%</a:t>
            </a:r>
            <a:r>
              <a:rPr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override navigation recommendation [1].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routes, avoiding tolls, perceived traffic inaccuracies, safety concerns, scenic preference.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4682367" y="799421"/>
            <a:ext cx="5400" cy="19062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6"/>
          <p:cNvCxnSpPr/>
          <p:nvPr/>
        </p:nvCxnSpPr>
        <p:spPr>
          <a:xfrm>
            <a:off x="95550" y="2687950"/>
            <a:ext cx="88500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159199" y="106421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Instances of Deviation in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7" title="ChatGPT Image Apr 26, 2026, 11_48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55" y="968600"/>
            <a:ext cx="2355487" cy="1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2975" y="4264000"/>
            <a:ext cx="9120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Djavadian, S. et al. Empirical evaluation of drivers’ route choice behavioral responses to social navigation. TRR,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Ji, Y. et al. Understanding drivers’ perspective on parking guidance information. IET ITS,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Ashkrof, P. et al. Implications of drivers’ ride acceptance decisions on ride-sourcing operations. TR Part A, 2025.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7" title="ChatGPT Image Apr 26, 2026, 12_05_4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345" y="916778"/>
            <a:ext cx="2355475" cy="170939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7120638" y="958642"/>
            <a:ext cx="21417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15-35%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parking recommendations [2]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Perceived parking difficulty, safety concerns, proximity preference, prior parking experience.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441130" y="1107885"/>
            <a:ext cx="2254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30-60%</a:t>
            </a:r>
            <a:r>
              <a:rPr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override navigation recommendation [1].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routes, avoiding tolls, perceived traffic inaccuracies, safety concerns, scenic preference.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7" title="ChatGPT Image Apr 26, 2026, 12_00_47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04" y="2715505"/>
            <a:ext cx="2355475" cy="16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474150" y="2813175"/>
            <a:ext cx="2355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20-40%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ride-hailing recommendations [3].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 pricing, driver distrust, long pickup times, preference for alternate routes or platforms.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4682367" y="799421"/>
            <a:ext cx="0" cy="35160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95550" y="2687950"/>
            <a:ext cx="88500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159199" y="106421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Instances of Deviation in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</a:t>
            </a: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8" title="ChatGPT Image Apr 26, 2026, 11_48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55" y="968600"/>
            <a:ext cx="2355487" cy="1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22975" y="4264000"/>
            <a:ext cx="9120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Djavadian, S. et al. Empirical evaluation of drivers’ route choice behavioral responses to social navigation. TRR,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Ji, Y. et al. Understanding drivers’ perspective on parking guidance information. IET ITS, 2014.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Ashkrof, P. et al. Implications of drivers’ ride acceptance decisions on ride-sourcing operations. TR Part A, 2025.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Alinia, B. et al. Online EV charging scheduling with on-arrival commitment. IEEE T-ITS, 2019.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8" title="ChatGPT Image Apr 26, 2026, 12_05_4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345" y="916778"/>
            <a:ext cx="2355475" cy="170939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7120638" y="958642"/>
            <a:ext cx="21417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15-35%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parking recommendations [2]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Perceived parking difficulty, safety concerns, proximity preference, prior parking experience.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441130" y="1107885"/>
            <a:ext cx="2254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30-60%</a:t>
            </a:r>
            <a:r>
              <a:rPr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override navigation recommendation [1].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routes, avoiding tolls, perceived traffic inaccuracies, safety concerns, scenic preference.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8" title="ChatGPT Image Apr 26, 2026, 12_00_47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604" y="2715505"/>
            <a:ext cx="2355475" cy="16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2474150" y="2813175"/>
            <a:ext cx="2355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20-40%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ride-hailing recommendations [3].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 pricing, driver distrust, long pickup times, preference for alternate routes or platforms.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8" title="ChatGPT Image Apr 26, 2026, 12_09_09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8296" y="2661980"/>
            <a:ext cx="2267052" cy="160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7147544" y="2642770"/>
            <a:ext cx="20352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Stats: </a:t>
            </a:r>
            <a:r>
              <a:rPr b="1" lang="en" sz="13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25-50%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users override charging recommendations [4]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anxiety, charger reliability concerns, pricing differences,  and battery range uncertainty.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4682367" y="799421"/>
            <a:ext cx="0" cy="35160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8"/>
          <p:cNvCxnSpPr/>
          <p:nvPr/>
        </p:nvCxnSpPr>
        <p:spPr>
          <a:xfrm>
            <a:off x="95550" y="2687950"/>
            <a:ext cx="88500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149250" y="275550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Deviation is a Problem?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9" title="ChatGPT Image May 5, 2026, 09_50_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50" y="912025"/>
            <a:ext cx="5317501" cy="354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268600" y="4271400"/>
            <a:ext cx="85566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 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EV charging, users may be non-compliant and deviate from the recommended charging option. 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149250" y="275550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Deviation is a Problem?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5579375" y="1079200"/>
            <a:ext cx="3503700" cy="28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Challenges: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the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satisfaction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scale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re-computation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triggers.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68600" y="4271400"/>
            <a:ext cx="85566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" sz="15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EV charging, users may be non-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compliant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deviate from the recommended 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charging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option. 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20" title="ChatGPT Image May 5, 2026, 09_50_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50" y="862300"/>
            <a:ext cx="5317501" cy="354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288749" y="204950"/>
            <a:ext cx="8436900" cy="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Related Works and 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Gaps in the Literature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21"/>
          <p:cNvGraphicFramePr/>
          <p:nvPr/>
        </p:nvGraphicFramePr>
        <p:xfrm>
          <a:off x="420681" y="750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83475"/>
                <a:gridCol w="1434775"/>
                <a:gridCol w="1762225"/>
                <a:gridCol w="1668975"/>
                <a:gridCol w="1106550"/>
                <a:gridCol w="1401275"/>
              </a:tblGrid>
              <a:tr h="46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Refs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Compliance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Post-deviation Reassignment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Capacity Considerations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Core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Stability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Pareto-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Optimality</a:t>
                      </a:r>
                      <a:endParaRPr b="1"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[5]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[6]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[7]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[8]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[9]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21"/>
          <p:cNvSpPr txBox="1"/>
          <p:nvPr/>
        </p:nvSpPr>
        <p:spPr>
          <a:xfrm>
            <a:off x="384025" y="4132625"/>
            <a:ext cx="84369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Kerkman, K. et al. Car drivers’ compliance with route advice and willingness to choose socially desirable routes. TRR, 2012.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Ashkrof, P. et al. Implications of drivers’ ride acceptance decisions on ride-sourcing operations. TR Part A, 2025.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Alinia, B. et al. Online EV charging scheduling wit]h on-arrival commitment. IEEE T-ITS, 2019.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Liu, X. et al. Energy consumption minimization for delay-sensitive data collection in UAV-assisted WSN. IEEE Sensors J., 2025.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Morrill, T., Roth, A.E. Top trading cycles. J. Math. Econ., 2024.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119891" y="3507050"/>
            <a:ext cx="8828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 of the existing solutions jointly addresses deviation, capacity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core-stability pareto-optimality together.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288749" y="204950"/>
            <a:ext cx="8436900" cy="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What is Top Trading Cycle and Why is it Used?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26125" y="705133"/>
            <a:ext cx="4146000" cy="4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TTC?</a:t>
            </a:r>
            <a:endParaRPr sz="20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Preference-driven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resource exchange mechanism.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Resolves allocations through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cyclic trades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(mutual exchanges).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pareto-efficient, individually rational, strategyproof, and stable 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exchanges.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TTC based exchange is performed for atomic resources.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288749" y="204950"/>
            <a:ext cx="8436900" cy="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What is Top Trading Cycle and Why is it Used?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4631875" y="734750"/>
            <a:ext cx="4362000" cy="4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TTC?</a:t>
            </a:r>
            <a:endParaRPr sz="20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Naturally adapts to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deviations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impacting the complaint ones.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lightweigh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reassignment without full recomputation from scratch.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pareto-efficiency, individual rationality, stability, and strategyproof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reassignment.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non-compliance with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mutually beneficial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trades.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426125" y="705133"/>
            <a:ext cx="4146000" cy="4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TTC?</a:t>
            </a:r>
            <a:endParaRPr sz="20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Preference-driven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resource exchange mechanism.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Resolves allocations through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cyclic trades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(mutual exchanges).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pareto-efficient, individually rational, strategyproof, and stable 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exchanges.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TTC based exchange is performed for </a:t>
            </a:r>
            <a:r>
              <a:rPr i="1"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atomic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resources.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197450" y="770050"/>
            <a:ext cx="87468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extend classical Top Trading Cycle (TTC) extending it to a </a:t>
            </a:r>
            <a:r>
              <a:rPr lang="en" sz="16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multi-quota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setting and propose a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post-deviation reassignment policy, i.e.,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preference-driven exchanges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non-compliance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can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unassigned/co-assigned capacity efficiently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integrate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prospect-theoretic preferences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model realistic user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theoretically prove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 optimality, individual rationality, core stability and strategy proofness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a </a:t>
            </a:r>
            <a:r>
              <a:rPr i="1" lang="en" sz="16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</a:t>
            </a:r>
            <a:r>
              <a:rPr i="1" lang="en" sz="16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post-deviation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 charger reassignment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average </a:t>
            </a: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user satisfaction 43%.</a:t>
            </a:r>
            <a:endParaRPr i="1" sz="1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4"/>
          <p:cNvSpPr txBox="1"/>
          <p:nvPr>
            <p:ph idx="1" type="subTitle"/>
          </p:nvPr>
        </p:nvSpPr>
        <p:spPr>
          <a:xfrm>
            <a:off x="311700" y="12388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Our 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Contributions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173650" y="89400"/>
            <a:ext cx="8520600" cy="7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System Model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5" title="ChatGPT Image May 6, 2026, 10_52_3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00" y="583250"/>
            <a:ext cx="8102800" cy="456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311700" y="-119385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Mapping User Preference to Satisfaction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26" title="ChatGPT Image May 7, 2026, 11_05_5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15" y="419263"/>
            <a:ext cx="3899948" cy="219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subTitle"/>
          </p:nvPr>
        </p:nvSpPr>
        <p:spPr>
          <a:xfrm>
            <a:off x="311700" y="-119385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Mapping User Preference to Satisfaction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7" title="ChatGPT Image May 7, 2026, 11_05_5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15" y="419263"/>
            <a:ext cx="3899948" cy="219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 title="ChatGPT Image May 7, 2026, 11_08_4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161" y="409384"/>
            <a:ext cx="3899948" cy="21948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 txBox="1"/>
          <p:nvPr/>
        </p:nvSpPr>
        <p:spPr>
          <a:xfrm>
            <a:off x="439350" y="4517894"/>
            <a:ext cx="82653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satisfaction assumes uniform sensitivity across ranks and is reference-blind to an agent’s initial allocation or expectation.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1" type="subTitle"/>
          </p:nvPr>
        </p:nvSpPr>
        <p:spPr>
          <a:xfrm>
            <a:off x="311700" y="-119385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Mapping User Preference to Satisfaction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8" title="ChatGPT Image May 7, 2026, 11_05_5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15" y="419263"/>
            <a:ext cx="3899948" cy="219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 title="ChatGPT Image May 7, 2026, 11_08_4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161" y="409384"/>
            <a:ext cx="3899948" cy="219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 title="ChatGPT Image May 12, 2026, 05_16_22 PM.png"/>
          <p:cNvPicPr preferRelativeResize="0"/>
          <p:nvPr/>
        </p:nvPicPr>
        <p:blipFill rotWithShape="1">
          <a:blip r:embed="rId5">
            <a:alphaModFix/>
          </a:blip>
          <a:srcRect b="1264" l="0" r="0" t="0"/>
          <a:stretch/>
        </p:blipFill>
        <p:spPr>
          <a:xfrm>
            <a:off x="401415" y="2594325"/>
            <a:ext cx="3959176" cy="24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1" type="subTitle"/>
          </p:nvPr>
        </p:nvSpPr>
        <p:spPr>
          <a:xfrm>
            <a:off x="311700" y="-119385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Mapping User Preference to Satisfaction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29" title="ChatGPT Image May 7, 2026, 11_05_5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15" y="419263"/>
            <a:ext cx="3899948" cy="219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 title="ChatGPT Image May 7, 2026, 11_08_4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4161" y="409384"/>
            <a:ext cx="3899948" cy="219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 title="ChatGPT Image May 12, 2026, 05_16_22 PM.png"/>
          <p:cNvPicPr preferRelativeResize="0"/>
          <p:nvPr/>
        </p:nvPicPr>
        <p:blipFill rotWithShape="1">
          <a:blip r:embed="rId5">
            <a:alphaModFix/>
          </a:blip>
          <a:srcRect b="1264" l="0" r="0" t="0"/>
          <a:stretch/>
        </p:blipFill>
        <p:spPr>
          <a:xfrm>
            <a:off x="401415" y="2594325"/>
            <a:ext cx="3959176" cy="248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 title="ChatGPT Image May 12, 2026, 05_24_08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4150" y="2594325"/>
            <a:ext cx="3899950" cy="24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" type="subTitle"/>
          </p:nvPr>
        </p:nvSpPr>
        <p:spPr>
          <a:xfrm>
            <a:off x="230592" y="-69239"/>
            <a:ext cx="852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30" title="ChatGPT Image May 4, 2026, 06_36_3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350" y="389425"/>
            <a:ext cx="7131099" cy="475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/>
          <p:nvPr/>
        </p:nvSpPr>
        <p:spPr>
          <a:xfrm>
            <a:off x="1149775" y="949425"/>
            <a:ext cx="11652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1149775" y="1619725"/>
            <a:ext cx="12021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Constraint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1149775" y="2239300"/>
            <a:ext cx="12393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 </a:t>
            </a: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1149775" y="2965050"/>
            <a:ext cx="12393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</a:t>
            </a: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1149775" y="3603156"/>
            <a:ext cx="1202100" cy="44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Rationality </a:t>
            </a: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1149775" y="4139825"/>
            <a:ext cx="1239300" cy="3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Variable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4927200" y="949425"/>
            <a:ext cx="2936400" cy="5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Maximize the total satisfaction of all non-compliant agents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4927200" y="1571125"/>
            <a:ext cx="3010200" cy="5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non-compliant agent is assigned to at most one resource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4890300" y="2239300"/>
            <a:ext cx="3010200" cy="5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agents assigned to any resource cannot exceed its capacity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4927200" y="2907475"/>
            <a:ext cx="3010200" cy="5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Agents can only be assigned to resources that are feasible for them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4890300" y="3575650"/>
            <a:ext cx="3010200" cy="64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non-compliant agent is worse off. The assigned resource must provide at least as much satisfaction as their current endowment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4890300" y="4350025"/>
            <a:ext cx="3010200" cy="64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assigned decisions are binary</a:t>
            </a:r>
            <a:endParaRPr sz="11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idx="1" type="subTitle"/>
          </p:nvPr>
        </p:nvSpPr>
        <p:spPr>
          <a:xfrm>
            <a:off x="304650" y="0"/>
            <a:ext cx="85206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Desirable Solution Properties</a:t>
            </a:r>
            <a:endParaRPr/>
          </a:p>
        </p:txBody>
      </p:sp>
      <p:pic>
        <p:nvPicPr>
          <p:cNvPr id="220" name="Google Shape;220;p31" title="ChatGPT Image May 4, 2026, 06_34_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549" y="477550"/>
            <a:ext cx="6909373" cy="460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18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Top Trading Cycle (Working Procedure) 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857250" y="1785700"/>
            <a:ext cx="2456100" cy="1610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Step 1: </a:t>
            </a:r>
            <a:r>
              <a:rPr lang="en" sz="1800">
                <a:solidFill>
                  <a:schemeClr val="lt1"/>
                </a:solidFill>
              </a:rPr>
              <a:t>Directed Graph Construction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3491300" y="1785700"/>
            <a:ext cx="2456100" cy="1610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Step 2: Cycle Detection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6125350" y="1785700"/>
            <a:ext cx="2456100" cy="16107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Step 3: </a:t>
            </a:r>
            <a:r>
              <a:rPr lang="en" sz="1800">
                <a:solidFill>
                  <a:schemeClr val="lt1"/>
                </a:solidFill>
              </a:rPr>
              <a:t>Cycle Resolution</a:t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229" name="Google Shape;229;p32"/>
          <p:cNvCxnSpPr>
            <a:stCxn id="228" idx="2"/>
            <a:endCxn id="226" idx="2"/>
          </p:cNvCxnSpPr>
          <p:nvPr/>
        </p:nvCxnSpPr>
        <p:spPr>
          <a:xfrm rot="5400000">
            <a:off x="4719100" y="762700"/>
            <a:ext cx="600" cy="5268000"/>
          </a:xfrm>
          <a:prstGeom prst="curvedConnector3">
            <a:avLst>
              <a:gd fmla="val 16400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1" type="subTitle"/>
          </p:nvPr>
        </p:nvSpPr>
        <p:spPr>
          <a:xfrm>
            <a:off x="254300" y="136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Potential Solution:Top Trading Cycle (Working Example)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5" name="Google Shape;235;p33"/>
          <p:cNvGraphicFramePr/>
          <p:nvPr/>
        </p:nvGraphicFramePr>
        <p:xfrm>
          <a:off x="1032950" y="183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1163950"/>
                <a:gridCol w="1163950"/>
                <a:gridCol w="1163950"/>
              </a:tblGrid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6" name="Google Shape;236;p33"/>
          <p:cNvSpPr txBox="1"/>
          <p:nvPr/>
        </p:nvSpPr>
        <p:spPr>
          <a:xfrm>
            <a:off x="844600" y="1113650"/>
            <a:ext cx="74535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Agents A = {a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and the resource set R = {r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with q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∀ 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ϵ 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7" name="Google Shape;237;p33"/>
          <p:cNvGraphicFramePr/>
          <p:nvPr/>
        </p:nvGraphicFramePr>
        <p:xfrm>
          <a:off x="4782825" y="183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1165475"/>
                <a:gridCol w="1165475"/>
              </a:tblGrid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 (r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Quota (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Solving the Classical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5894095" y="2012202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7623595" y="2012202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6905158" y="1151028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175000" y="116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7" name="Google Shape;247;p34"/>
          <p:cNvCxnSpPr>
            <a:stCxn id="243" idx="7"/>
            <a:endCxn id="244" idx="0"/>
          </p:cNvCxnSpPr>
          <p:nvPr/>
        </p:nvCxnSpPr>
        <p:spPr>
          <a:xfrm rot="-5400000">
            <a:off x="7104754" y="1293597"/>
            <a:ext cx="88500" cy="1525500"/>
          </a:xfrm>
          <a:prstGeom prst="curvedConnector3">
            <a:avLst>
              <a:gd fmla="val 568399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" name="Google Shape;248;p34"/>
          <p:cNvSpPr txBox="1"/>
          <p:nvPr/>
        </p:nvSpPr>
        <p:spPr>
          <a:xfrm>
            <a:off x="184925" y="641425"/>
            <a:ext cx="431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9" name="Google Shape;249;p34"/>
          <p:cNvGraphicFramePr/>
          <p:nvPr/>
        </p:nvGraphicFramePr>
        <p:xfrm>
          <a:off x="3136225" y="1163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idx="1" type="subTitle"/>
          </p:nvPr>
        </p:nvSpPr>
        <p:spPr>
          <a:xfrm>
            <a:off x="254300" y="136075"/>
            <a:ext cx="8520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Solving the Classical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6116772" y="3490318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7846272" y="3490318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7149303" y="2979637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8" name="Google Shape;258;p35"/>
          <p:cNvCxnSpPr>
            <a:stCxn id="255" idx="7"/>
            <a:endCxn id="256" idx="0"/>
          </p:cNvCxnSpPr>
          <p:nvPr/>
        </p:nvCxnSpPr>
        <p:spPr>
          <a:xfrm rot="-5400000">
            <a:off x="7327431" y="2771713"/>
            <a:ext cx="88500" cy="1525500"/>
          </a:xfrm>
          <a:prstGeom prst="curvedConnector3">
            <a:avLst>
              <a:gd fmla="val 705015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" name="Google Shape;259;p35"/>
          <p:cNvCxnSpPr>
            <a:stCxn id="256" idx="4"/>
            <a:endCxn id="255" idx="5"/>
          </p:cNvCxnSpPr>
          <p:nvPr/>
        </p:nvCxnSpPr>
        <p:spPr>
          <a:xfrm flipH="1" rot="5400000">
            <a:off x="7327572" y="3286918"/>
            <a:ext cx="88500" cy="1525500"/>
          </a:xfrm>
          <a:prstGeom prst="curvedConnector3">
            <a:avLst>
              <a:gd fmla="val -535916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" name="Google Shape;260;p35"/>
          <p:cNvSpPr txBox="1"/>
          <p:nvPr/>
        </p:nvSpPr>
        <p:spPr>
          <a:xfrm>
            <a:off x="7175416" y="4056131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6084575" y="151546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7814075" y="151546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7105625" y="654290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4" name="Google Shape;264;p35"/>
          <p:cNvCxnSpPr>
            <a:stCxn id="261" idx="7"/>
            <a:endCxn id="262" idx="0"/>
          </p:cNvCxnSpPr>
          <p:nvPr/>
        </p:nvCxnSpPr>
        <p:spPr>
          <a:xfrm rot="-5400000">
            <a:off x="7295234" y="796860"/>
            <a:ext cx="88500" cy="1525500"/>
          </a:xfrm>
          <a:prstGeom prst="curvedConnector3">
            <a:avLst>
              <a:gd fmla="val 508259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65" name="Google Shape;265;p35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5768" y="2259299"/>
            <a:ext cx="415500" cy="41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6" name="Google Shape;266;p35"/>
          <p:cNvGraphicFramePr/>
          <p:nvPr/>
        </p:nvGraphicFramePr>
        <p:xfrm>
          <a:off x="254300" y="120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7" name="Google Shape;267;p35"/>
          <p:cNvGraphicFramePr/>
          <p:nvPr/>
        </p:nvGraphicFramePr>
        <p:xfrm>
          <a:off x="3351534" y="120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35"/>
          <p:cNvSpPr txBox="1"/>
          <p:nvPr/>
        </p:nvSpPr>
        <p:spPr>
          <a:xfrm>
            <a:off x="254300" y="641425"/>
            <a:ext cx="49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Solving the Classical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6129972" y="341152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6"/>
          <p:cNvSpPr/>
          <p:nvPr/>
        </p:nvSpPr>
        <p:spPr>
          <a:xfrm>
            <a:off x="7859472" y="341152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7162503" y="2900846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7" name="Google Shape;277;p36"/>
          <p:cNvCxnSpPr>
            <a:stCxn id="274" idx="7"/>
            <a:endCxn id="275" idx="0"/>
          </p:cNvCxnSpPr>
          <p:nvPr/>
        </p:nvCxnSpPr>
        <p:spPr>
          <a:xfrm rot="-5400000">
            <a:off x="7340631" y="2692922"/>
            <a:ext cx="88500" cy="1525500"/>
          </a:xfrm>
          <a:prstGeom prst="curvedConnector3">
            <a:avLst>
              <a:gd fmla="val 682539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" name="Google Shape;278;p36"/>
          <p:cNvCxnSpPr>
            <a:stCxn id="275" idx="4"/>
            <a:endCxn id="274" idx="5"/>
          </p:cNvCxnSpPr>
          <p:nvPr/>
        </p:nvCxnSpPr>
        <p:spPr>
          <a:xfrm flipH="1" rot="5400000">
            <a:off x="7340772" y="3208127"/>
            <a:ext cx="88500" cy="1525500"/>
          </a:xfrm>
          <a:prstGeom prst="curvedConnector3">
            <a:avLst>
              <a:gd fmla="val -535916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9" name="Google Shape;279;p36"/>
          <p:cNvSpPr txBox="1"/>
          <p:nvPr/>
        </p:nvSpPr>
        <p:spPr>
          <a:xfrm>
            <a:off x="7188616" y="3977339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6084575" y="1376719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6"/>
          <p:cNvSpPr/>
          <p:nvPr/>
        </p:nvSpPr>
        <p:spPr>
          <a:xfrm>
            <a:off x="7814075" y="1376719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7105625" y="515545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3" name="Google Shape;283;p36"/>
          <p:cNvCxnSpPr>
            <a:stCxn id="280" idx="7"/>
            <a:endCxn id="281" idx="0"/>
          </p:cNvCxnSpPr>
          <p:nvPr/>
        </p:nvCxnSpPr>
        <p:spPr>
          <a:xfrm rot="-5400000">
            <a:off x="7295234" y="658114"/>
            <a:ext cx="88500" cy="1525500"/>
          </a:xfrm>
          <a:prstGeom prst="curvedConnector3">
            <a:avLst>
              <a:gd fmla="val 508259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84" name="Google Shape;284;p36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5618" y="1932713"/>
            <a:ext cx="415500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903567" y="3516799"/>
            <a:ext cx="415500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2279097" y="3504575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4008597" y="3504575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3300303" y="3003827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9" name="Google Shape;289;p36"/>
          <p:cNvCxnSpPr>
            <a:stCxn id="286" idx="7"/>
            <a:endCxn id="287" idx="0"/>
          </p:cNvCxnSpPr>
          <p:nvPr/>
        </p:nvCxnSpPr>
        <p:spPr>
          <a:xfrm rot="-5400000">
            <a:off x="3489756" y="2785970"/>
            <a:ext cx="88500" cy="1525500"/>
          </a:xfrm>
          <a:prstGeom prst="curvedConnector3">
            <a:avLst>
              <a:gd fmla="val 719817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" name="Google Shape;290;p36"/>
          <p:cNvCxnSpPr>
            <a:stCxn id="287" idx="4"/>
            <a:endCxn id="286" idx="5"/>
          </p:cNvCxnSpPr>
          <p:nvPr/>
        </p:nvCxnSpPr>
        <p:spPr>
          <a:xfrm flipH="1" rot="5400000">
            <a:off x="3489897" y="3301175"/>
            <a:ext cx="88500" cy="1525500"/>
          </a:xfrm>
          <a:prstGeom prst="curvedConnector3">
            <a:avLst>
              <a:gd fmla="val -553955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1" name="Google Shape;291;p36"/>
          <p:cNvSpPr txBox="1"/>
          <p:nvPr/>
        </p:nvSpPr>
        <p:spPr>
          <a:xfrm>
            <a:off x="3310201" y="4054772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r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baseline="-25000" sz="1600"/>
          </a:p>
        </p:txBody>
      </p:sp>
      <p:sp>
        <p:nvSpPr>
          <p:cNvPr id="292" name="Google Shape;292;p36"/>
          <p:cNvSpPr/>
          <p:nvPr/>
        </p:nvSpPr>
        <p:spPr>
          <a:xfrm>
            <a:off x="1298661" y="3509466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3" name="Google Shape;293;p36"/>
          <p:cNvCxnSpPr>
            <a:stCxn id="292" idx="1"/>
            <a:endCxn id="292" idx="7"/>
          </p:cNvCxnSpPr>
          <p:nvPr/>
        </p:nvCxnSpPr>
        <p:spPr>
          <a:xfrm flipH="1" rot="-5400000">
            <a:off x="1586652" y="3394312"/>
            <a:ext cx="600" cy="407700"/>
          </a:xfrm>
          <a:prstGeom prst="curvedConnector3">
            <a:avLst>
              <a:gd fmla="val -121888954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" name="Google Shape;294;p36"/>
          <p:cNvSpPr txBox="1"/>
          <p:nvPr/>
        </p:nvSpPr>
        <p:spPr>
          <a:xfrm>
            <a:off x="1353099" y="2405527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5" name="Google Shape;295;p36"/>
          <p:cNvGraphicFramePr/>
          <p:nvPr/>
        </p:nvGraphicFramePr>
        <p:xfrm>
          <a:off x="254300" y="1113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Google Shape;296;p36"/>
          <p:cNvGraphicFramePr/>
          <p:nvPr/>
        </p:nvGraphicFramePr>
        <p:xfrm>
          <a:off x="3116125" y="1074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07775"/>
              </a:tblGrid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</a:t>
                      </a:r>
                      <a:r>
                        <a:rPr b="1" baseline="-25000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36"/>
          <p:cNvSpPr txBox="1"/>
          <p:nvPr/>
        </p:nvSpPr>
        <p:spPr>
          <a:xfrm>
            <a:off x="254300" y="641425"/>
            <a:ext cx="478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439350" y="4547625"/>
            <a:ext cx="82653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finite directed graph with exactly one outgoing edge per vertex, repeatedly following edges must eventually revisit a vertex, which forms a directed cycle.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/>
          <p:nvPr/>
        </p:nvSpPr>
        <p:spPr>
          <a:xfrm>
            <a:off x="6560675" y="1357925"/>
            <a:ext cx="2571000" cy="2120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7376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04" name="Google Shape;304;p37"/>
          <p:cNvSpPr/>
          <p:nvPr/>
        </p:nvSpPr>
        <p:spPr>
          <a:xfrm>
            <a:off x="5650536" y="1387185"/>
            <a:ext cx="861300" cy="2014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7376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05" name="Google Shape;305;p37"/>
          <p:cNvSpPr txBox="1"/>
          <p:nvPr>
            <p:ph idx="1" type="subTitle"/>
          </p:nvPr>
        </p:nvSpPr>
        <p:spPr>
          <a:xfrm>
            <a:off x="254300" y="136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olving the Classical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229364" y="651667"/>
            <a:ext cx="430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2 and 3: Cycle Detection and Resolution</a:t>
            </a:r>
            <a:r>
              <a:rPr lang="en" sz="16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7"/>
          <p:cNvSpPr txBox="1"/>
          <p:nvPr/>
        </p:nvSpPr>
        <p:spPr>
          <a:xfrm>
            <a:off x="2436485" y="3955283"/>
            <a:ext cx="3364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have two cycles (1)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(2)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6349573" y="3823879"/>
            <a:ext cx="25710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(1) First cycle: Assign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(2) Second cycle: Assign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aseline="-2500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9" name="Google Shape;309;p37"/>
          <p:cNvGraphicFramePr/>
          <p:nvPr/>
        </p:nvGraphicFramePr>
        <p:xfrm>
          <a:off x="254300" y="1113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24275"/>
                <a:gridCol w="547800"/>
                <a:gridCol w="839750"/>
              </a:tblGrid>
              <a:tr h="297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0" name="Google Shape;310;p37"/>
          <p:cNvGraphicFramePr/>
          <p:nvPr/>
        </p:nvGraphicFramePr>
        <p:xfrm>
          <a:off x="368002" y="2717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802950"/>
                <a:gridCol w="802950"/>
              </a:tblGrid>
              <a:tr h="35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37"/>
          <p:cNvSpPr/>
          <p:nvPr/>
        </p:nvSpPr>
        <p:spPr>
          <a:xfrm>
            <a:off x="2956149" y="2255873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4685649" y="2255873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7"/>
          <p:cNvSpPr txBox="1"/>
          <p:nvPr/>
        </p:nvSpPr>
        <p:spPr>
          <a:xfrm>
            <a:off x="3987266" y="1859209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4" name="Google Shape;314;p37"/>
          <p:cNvCxnSpPr>
            <a:stCxn id="311" idx="7"/>
            <a:endCxn id="312" idx="0"/>
          </p:cNvCxnSpPr>
          <p:nvPr/>
        </p:nvCxnSpPr>
        <p:spPr>
          <a:xfrm rot="-5400000">
            <a:off x="4166808" y="1537268"/>
            <a:ext cx="88500" cy="1525500"/>
          </a:xfrm>
          <a:prstGeom prst="curvedConnector3">
            <a:avLst>
              <a:gd fmla="val 711595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" name="Google Shape;315;p37"/>
          <p:cNvCxnSpPr>
            <a:stCxn id="312" idx="4"/>
            <a:endCxn id="311" idx="5"/>
          </p:cNvCxnSpPr>
          <p:nvPr/>
        </p:nvCxnSpPr>
        <p:spPr>
          <a:xfrm flipH="1" rot="5400000">
            <a:off x="4166949" y="2052473"/>
            <a:ext cx="88500" cy="1525500"/>
          </a:xfrm>
          <a:prstGeom prst="curvedConnector3">
            <a:avLst>
              <a:gd fmla="val -56515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6" name="Google Shape;316;p37"/>
          <p:cNvSpPr txBox="1"/>
          <p:nvPr/>
        </p:nvSpPr>
        <p:spPr>
          <a:xfrm>
            <a:off x="3997164" y="2839714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r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baseline="-25000" sz="1600"/>
          </a:p>
        </p:txBody>
      </p:sp>
      <p:sp>
        <p:nvSpPr>
          <p:cNvPr id="317" name="Google Shape;317;p37"/>
          <p:cNvSpPr/>
          <p:nvPr/>
        </p:nvSpPr>
        <p:spPr>
          <a:xfrm>
            <a:off x="2253204" y="2369779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8" name="Google Shape;318;p37"/>
          <p:cNvCxnSpPr>
            <a:stCxn id="317" idx="1"/>
            <a:endCxn id="317" idx="7"/>
          </p:cNvCxnSpPr>
          <p:nvPr/>
        </p:nvCxnSpPr>
        <p:spPr>
          <a:xfrm flipH="1" rot="-5400000">
            <a:off x="2541196" y="2254624"/>
            <a:ext cx="600" cy="407700"/>
          </a:xfrm>
          <a:prstGeom prst="curvedConnector3">
            <a:avLst>
              <a:gd fmla="val -105774874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9" name="Google Shape;319;p37"/>
          <p:cNvSpPr txBox="1"/>
          <p:nvPr/>
        </p:nvSpPr>
        <p:spPr>
          <a:xfrm>
            <a:off x="2307642" y="1315392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6616840" y="210721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8485086" y="2097306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7697359" y="1719461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3" name="Google Shape;323;p37"/>
          <p:cNvCxnSpPr>
            <a:stCxn id="320" idx="7"/>
            <a:endCxn id="321" idx="0"/>
          </p:cNvCxnSpPr>
          <p:nvPr/>
        </p:nvCxnSpPr>
        <p:spPr>
          <a:xfrm rot="-5400000">
            <a:off x="7891999" y="1314212"/>
            <a:ext cx="98400" cy="1664400"/>
          </a:xfrm>
          <a:prstGeom prst="curvedConnector3">
            <a:avLst>
              <a:gd fmla="val 62994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4" name="Google Shape;324;p37"/>
          <p:cNvCxnSpPr>
            <a:stCxn id="321" idx="4"/>
            <a:endCxn id="320" idx="5"/>
          </p:cNvCxnSpPr>
          <p:nvPr/>
        </p:nvCxnSpPr>
        <p:spPr>
          <a:xfrm flipH="1" rot="5400000">
            <a:off x="7901886" y="1829406"/>
            <a:ext cx="78600" cy="1664400"/>
          </a:xfrm>
          <a:prstGeom prst="curvedConnector3">
            <a:avLst>
              <a:gd fmla="val -661538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5" name="Google Shape;325;p37"/>
          <p:cNvSpPr txBox="1"/>
          <p:nvPr/>
        </p:nvSpPr>
        <p:spPr>
          <a:xfrm>
            <a:off x="7738201" y="2740598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r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baseline="-25000" sz="1600"/>
          </a:p>
        </p:txBody>
      </p:sp>
      <p:sp>
        <p:nvSpPr>
          <p:cNvPr id="326" name="Google Shape;326;p37"/>
          <p:cNvSpPr/>
          <p:nvPr/>
        </p:nvSpPr>
        <p:spPr>
          <a:xfrm>
            <a:off x="5824702" y="2349958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" name="Google Shape;327;p37"/>
          <p:cNvCxnSpPr>
            <a:stCxn id="326" idx="1"/>
            <a:endCxn id="326" idx="7"/>
          </p:cNvCxnSpPr>
          <p:nvPr/>
        </p:nvCxnSpPr>
        <p:spPr>
          <a:xfrm flipH="1" rot="-5400000">
            <a:off x="6112693" y="2234803"/>
            <a:ext cx="600" cy="407700"/>
          </a:xfrm>
          <a:prstGeom prst="curvedConnector3">
            <a:avLst>
              <a:gd fmla="val -104125572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8" name="Google Shape;328;p37"/>
          <p:cNvSpPr txBox="1"/>
          <p:nvPr/>
        </p:nvSpPr>
        <p:spPr>
          <a:xfrm>
            <a:off x="5879140" y="1364944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37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254836" y="2386169"/>
            <a:ext cx="415500" cy="2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7"/>
          <p:cNvSpPr txBox="1"/>
          <p:nvPr/>
        </p:nvSpPr>
        <p:spPr>
          <a:xfrm>
            <a:off x="5599390" y="3458719"/>
            <a:ext cx="1050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Cycle 1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7446756" y="3500488"/>
            <a:ext cx="1050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Cycle 2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Alternative Example: Failure of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7" name="Google Shape;337;p38"/>
          <p:cNvGraphicFramePr/>
          <p:nvPr/>
        </p:nvGraphicFramePr>
        <p:xfrm>
          <a:off x="105225" y="121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40750"/>
                <a:gridCol w="462125"/>
                <a:gridCol w="972000"/>
              </a:tblGrid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-25000"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38"/>
          <p:cNvSpPr txBox="1"/>
          <p:nvPr/>
        </p:nvSpPr>
        <p:spPr>
          <a:xfrm>
            <a:off x="105225" y="710100"/>
            <a:ext cx="349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8"/>
          <p:cNvSpPr/>
          <p:nvPr/>
        </p:nvSpPr>
        <p:spPr>
          <a:xfrm>
            <a:off x="4468658" y="1515028"/>
            <a:ext cx="460800" cy="482400"/>
          </a:xfrm>
          <a:prstGeom prst="ellipse">
            <a:avLst/>
          </a:prstGeom>
          <a:solidFill>
            <a:srgbClr val="CFE2F3"/>
          </a:solidFill>
          <a:ln cap="flat" cmpd="sng" w="152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78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2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5850607" y="1515028"/>
            <a:ext cx="460800" cy="482400"/>
          </a:xfrm>
          <a:prstGeom prst="ellipse">
            <a:avLst/>
          </a:prstGeom>
          <a:solidFill>
            <a:srgbClr val="CFE2F3"/>
          </a:solidFill>
          <a:ln cap="flat" cmpd="sng" w="152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78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2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5284648" y="710099"/>
            <a:ext cx="373800" cy="344400"/>
          </a:xfrm>
          <a:prstGeom prst="rect">
            <a:avLst/>
          </a:prstGeom>
          <a:noFill/>
          <a:ln cap="flat" cmpd="sng" w="15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2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2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2" name="Google Shape;342;p38"/>
          <p:cNvCxnSpPr>
            <a:stCxn id="339" idx="7"/>
            <a:endCxn id="340" idx="0"/>
          </p:cNvCxnSpPr>
          <p:nvPr/>
        </p:nvCxnSpPr>
        <p:spPr>
          <a:xfrm rot="-5400000">
            <a:off x="5436176" y="940974"/>
            <a:ext cx="70500" cy="1218900"/>
          </a:xfrm>
          <a:prstGeom prst="curvedConnector3">
            <a:avLst>
              <a:gd fmla="val 636145" name="adj1"/>
            </a:avLst>
          </a:prstGeom>
          <a:noFill/>
          <a:ln cap="flat" cmpd="sng" w="1522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3" name="Google Shape;343;p38"/>
          <p:cNvCxnSpPr>
            <a:stCxn id="340" idx="4"/>
            <a:endCxn id="339" idx="5"/>
          </p:cNvCxnSpPr>
          <p:nvPr/>
        </p:nvCxnSpPr>
        <p:spPr>
          <a:xfrm flipH="1" rot="5400000">
            <a:off x="5436307" y="1352728"/>
            <a:ext cx="70500" cy="1218900"/>
          </a:xfrm>
          <a:prstGeom prst="curvedConnector3">
            <a:avLst>
              <a:gd fmla="val -512889" name="adj1"/>
            </a:avLst>
          </a:prstGeom>
          <a:noFill/>
          <a:ln cap="flat" cmpd="sng" w="15225">
            <a:solidFill>
              <a:srgbClr val="1C458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4" name="Google Shape;344;p38"/>
          <p:cNvSpPr txBox="1"/>
          <p:nvPr/>
        </p:nvSpPr>
        <p:spPr>
          <a:xfrm>
            <a:off x="5326171" y="2391256"/>
            <a:ext cx="373800" cy="344400"/>
          </a:xfrm>
          <a:prstGeom prst="rect">
            <a:avLst/>
          </a:prstGeom>
          <a:noFill/>
          <a:ln cap="flat" cmpd="sng" w="15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050" lIns="73050" spcFirstLastPara="1" rIns="73050" wrap="square" tIns="73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27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2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5862104" y="2681569"/>
            <a:ext cx="460800" cy="482400"/>
          </a:xfrm>
          <a:prstGeom prst="ellipse">
            <a:avLst/>
          </a:prstGeom>
          <a:solidFill>
            <a:srgbClr val="CFE2F3"/>
          </a:solidFill>
          <a:ln cap="flat" cmpd="sng" w="152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78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27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6" name="Google Shape;346;p38"/>
          <p:cNvCxnSpPr>
            <a:stCxn id="345" idx="0"/>
            <a:endCxn id="340" idx="4"/>
          </p:cNvCxnSpPr>
          <p:nvPr/>
        </p:nvCxnSpPr>
        <p:spPr>
          <a:xfrm rot="10800000">
            <a:off x="6081104" y="1997569"/>
            <a:ext cx="11400" cy="684000"/>
          </a:xfrm>
          <a:prstGeom prst="straightConnector1">
            <a:avLst/>
          </a:prstGeom>
          <a:noFill/>
          <a:ln cap="flat" cmpd="sng" w="152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47" name="Google Shape;347;p38"/>
          <p:cNvGraphicFramePr/>
          <p:nvPr/>
        </p:nvGraphicFramePr>
        <p:xfrm>
          <a:off x="2243750" y="121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08250"/>
                <a:gridCol w="708250"/>
              </a:tblGrid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Google Shape;352;p39"/>
          <p:cNvGraphicFramePr/>
          <p:nvPr/>
        </p:nvGraphicFramePr>
        <p:xfrm>
          <a:off x="105225" y="121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40750"/>
                <a:gridCol w="462125"/>
                <a:gridCol w="972000"/>
              </a:tblGrid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-25000"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39"/>
          <p:cNvSpPr txBox="1"/>
          <p:nvPr/>
        </p:nvSpPr>
        <p:spPr>
          <a:xfrm>
            <a:off x="105225" y="710100"/>
            <a:ext cx="349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3824475" y="1411593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9"/>
          <p:cNvSpPr/>
          <p:nvPr/>
        </p:nvSpPr>
        <p:spPr>
          <a:xfrm>
            <a:off x="5028841" y="1411593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4535609" y="710100"/>
            <a:ext cx="325800" cy="300000"/>
          </a:xfrm>
          <a:prstGeom prst="rect">
            <a:avLst/>
          </a:prstGeom>
          <a:noFill/>
          <a:ln cap="flat" cmpd="sng" w="13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" name="Google Shape;357;p39"/>
          <p:cNvCxnSpPr>
            <a:stCxn id="354" idx="7"/>
            <a:endCxn id="355" idx="0"/>
          </p:cNvCxnSpPr>
          <p:nvPr/>
        </p:nvCxnSpPr>
        <p:spPr>
          <a:xfrm rot="-5400000">
            <a:off x="4667747" y="911245"/>
            <a:ext cx="61500" cy="1062300"/>
          </a:xfrm>
          <a:prstGeom prst="curvedConnector3">
            <a:avLst>
              <a:gd fmla="val 636145" name="adj1"/>
            </a:avLst>
          </a:prstGeom>
          <a:noFill/>
          <a:ln cap="flat" cmpd="sng" w="132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p39"/>
          <p:cNvCxnSpPr>
            <a:stCxn id="355" idx="4"/>
            <a:endCxn id="354" idx="5"/>
          </p:cNvCxnSpPr>
          <p:nvPr/>
        </p:nvCxnSpPr>
        <p:spPr>
          <a:xfrm flipH="1" rot="5400000">
            <a:off x="4667791" y="1269993"/>
            <a:ext cx="61500" cy="1062300"/>
          </a:xfrm>
          <a:prstGeom prst="curvedConnector3">
            <a:avLst>
              <a:gd fmla="val -512889" name="adj1"/>
            </a:avLst>
          </a:prstGeom>
          <a:noFill/>
          <a:ln cap="flat" cmpd="sng" w="13275">
            <a:solidFill>
              <a:srgbClr val="1C458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9" name="Google Shape;359;p39"/>
          <p:cNvSpPr txBox="1"/>
          <p:nvPr/>
        </p:nvSpPr>
        <p:spPr>
          <a:xfrm>
            <a:off x="4571796" y="2175222"/>
            <a:ext cx="325800" cy="300000"/>
          </a:xfrm>
          <a:prstGeom prst="rect">
            <a:avLst/>
          </a:prstGeom>
          <a:noFill/>
          <a:ln cap="flat" cmpd="sng" w="13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39"/>
          <p:cNvSpPr/>
          <p:nvPr/>
        </p:nvSpPr>
        <p:spPr>
          <a:xfrm>
            <a:off x="5038860" y="2428228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1" name="Google Shape;361;p39"/>
          <p:cNvCxnSpPr>
            <a:stCxn id="360" idx="0"/>
            <a:endCxn id="355" idx="4"/>
          </p:cNvCxnSpPr>
          <p:nvPr/>
        </p:nvCxnSpPr>
        <p:spPr>
          <a:xfrm rot="10800000">
            <a:off x="5229810" y="1831828"/>
            <a:ext cx="9900" cy="596400"/>
          </a:xfrm>
          <a:prstGeom prst="straightConnector1">
            <a:avLst/>
          </a:prstGeom>
          <a:noFill/>
          <a:ln cap="flat" cmpd="sng" w="13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62" name="Google Shape;362;p39"/>
          <p:cNvGraphicFramePr/>
          <p:nvPr/>
        </p:nvGraphicFramePr>
        <p:xfrm>
          <a:off x="2243750" y="121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08250"/>
                <a:gridCol w="708250"/>
              </a:tblGrid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39"/>
          <p:cNvSpPr/>
          <p:nvPr/>
        </p:nvSpPr>
        <p:spPr>
          <a:xfrm>
            <a:off x="7752475" y="1087656"/>
            <a:ext cx="1107600" cy="1094400"/>
          </a:xfrm>
          <a:prstGeom prst="ellipse">
            <a:avLst/>
          </a:prstGeom>
          <a:solidFill>
            <a:schemeClr val="lt1"/>
          </a:solidFill>
          <a:ln cap="flat" cmpd="sng" w="12100">
            <a:solidFill>
              <a:srgbClr val="1C45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sp>
        <p:nvSpPr>
          <p:cNvPr id="364" name="Google Shape;364;p39"/>
          <p:cNvSpPr/>
          <p:nvPr/>
        </p:nvSpPr>
        <p:spPr>
          <a:xfrm>
            <a:off x="5851084" y="1006641"/>
            <a:ext cx="1529100" cy="1191300"/>
          </a:xfrm>
          <a:prstGeom prst="ellipse">
            <a:avLst/>
          </a:prstGeom>
          <a:solidFill>
            <a:schemeClr val="lt1"/>
          </a:solidFill>
          <a:ln cap="flat" cmpd="sng" w="12100">
            <a:solidFill>
              <a:srgbClr val="1C45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sp>
        <p:nvSpPr>
          <p:cNvPr id="365" name="Google Shape;365;p39"/>
          <p:cNvSpPr/>
          <p:nvPr/>
        </p:nvSpPr>
        <p:spPr>
          <a:xfrm>
            <a:off x="8127136" y="1703836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6" name="Google Shape;366;p39"/>
          <p:cNvCxnSpPr>
            <a:stCxn id="365" idx="1"/>
            <a:endCxn id="365" idx="7"/>
          </p:cNvCxnSpPr>
          <p:nvPr/>
        </p:nvCxnSpPr>
        <p:spPr>
          <a:xfrm flipH="1" rot="-5400000">
            <a:off x="8309929" y="1630833"/>
            <a:ext cx="600" cy="258900"/>
          </a:xfrm>
          <a:prstGeom prst="curvedConnector3">
            <a:avLst>
              <a:gd fmla="val -54420029" name="adj1"/>
            </a:avLst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7" name="Google Shape;367;p39"/>
          <p:cNvSpPr txBox="1"/>
          <p:nvPr/>
        </p:nvSpPr>
        <p:spPr>
          <a:xfrm>
            <a:off x="8174351" y="1135869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8" name="Google Shape;368;p39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434372" y="1468115"/>
            <a:ext cx="263909" cy="2639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9"/>
          <p:cNvSpPr/>
          <p:nvPr/>
        </p:nvSpPr>
        <p:spPr>
          <a:xfrm>
            <a:off x="5876822" y="1413414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6975332" y="1413414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6538090" y="1051615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2" name="Google Shape;372;p39"/>
          <p:cNvCxnSpPr>
            <a:stCxn id="369" idx="7"/>
            <a:endCxn id="370" idx="0"/>
          </p:cNvCxnSpPr>
          <p:nvPr/>
        </p:nvCxnSpPr>
        <p:spPr>
          <a:xfrm rot="-5400000">
            <a:off x="6645929" y="957012"/>
            <a:ext cx="56100" cy="969000"/>
          </a:xfrm>
          <a:prstGeom prst="curvedConnector3">
            <a:avLst>
              <a:gd fmla="val 676314" name="adj1"/>
            </a:avLst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3" name="Google Shape;373;p39"/>
          <p:cNvCxnSpPr>
            <a:stCxn id="370" idx="4"/>
            <a:endCxn id="369" idx="5"/>
          </p:cNvCxnSpPr>
          <p:nvPr/>
        </p:nvCxnSpPr>
        <p:spPr>
          <a:xfrm flipH="1" rot="5400000">
            <a:off x="6645932" y="1284264"/>
            <a:ext cx="56100" cy="969000"/>
          </a:xfrm>
          <a:prstGeom prst="curvedConnector3">
            <a:avLst>
              <a:gd fmla="val -577559" name="adj1"/>
            </a:avLst>
          </a:prstGeom>
          <a:noFill/>
          <a:ln cap="flat" cmpd="sng" w="12100">
            <a:solidFill>
              <a:srgbClr val="1C458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4" name="Google Shape;374;p39"/>
          <p:cNvSpPr txBox="1"/>
          <p:nvPr/>
        </p:nvSpPr>
        <p:spPr>
          <a:xfrm>
            <a:off x="6545891" y="1730779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9"/>
          <p:cNvSpPr/>
          <p:nvPr/>
        </p:nvSpPr>
        <p:spPr>
          <a:xfrm>
            <a:off x="6984471" y="2340696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6" name="Google Shape;376;p39"/>
          <p:cNvCxnSpPr>
            <a:stCxn id="375" idx="0"/>
            <a:endCxn id="370" idx="4"/>
          </p:cNvCxnSpPr>
          <p:nvPr/>
        </p:nvCxnSpPr>
        <p:spPr>
          <a:xfrm rot="10800000">
            <a:off x="7158621" y="1796796"/>
            <a:ext cx="9000" cy="543900"/>
          </a:xfrm>
          <a:prstGeom prst="straightConnector1">
            <a:avLst/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9"/>
          <p:cNvSpPr txBox="1"/>
          <p:nvPr/>
        </p:nvSpPr>
        <p:spPr>
          <a:xfrm>
            <a:off x="5430550" y="2866850"/>
            <a:ext cx="329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1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762"/>
              </a:spcBef>
              <a:spcAft>
                <a:spcPts val="762"/>
              </a:spcAft>
              <a:buNone/>
            </a:pPr>
            <a:r>
              <a:t/>
            </a:r>
            <a:endParaRPr baseline="-25000" sz="151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8" name="Google Shape;378;p39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508860" y="1489790"/>
            <a:ext cx="263909" cy="2639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Alternative Example: Failure of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4" name="Google Shape;384;p40"/>
          <p:cNvGraphicFramePr/>
          <p:nvPr/>
        </p:nvGraphicFramePr>
        <p:xfrm>
          <a:off x="105225" y="121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40750"/>
                <a:gridCol w="462125"/>
                <a:gridCol w="972000"/>
              </a:tblGrid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-25000"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5" name="Google Shape;385;p40"/>
          <p:cNvSpPr txBox="1"/>
          <p:nvPr/>
        </p:nvSpPr>
        <p:spPr>
          <a:xfrm>
            <a:off x="105225" y="710100"/>
            <a:ext cx="349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 Construction</a:t>
            </a:r>
            <a:endParaRPr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40"/>
          <p:cNvSpPr/>
          <p:nvPr/>
        </p:nvSpPr>
        <p:spPr>
          <a:xfrm>
            <a:off x="3824475" y="1411593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40"/>
          <p:cNvSpPr/>
          <p:nvPr/>
        </p:nvSpPr>
        <p:spPr>
          <a:xfrm>
            <a:off x="5028841" y="1411593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4535609" y="710100"/>
            <a:ext cx="325800" cy="300000"/>
          </a:xfrm>
          <a:prstGeom prst="rect">
            <a:avLst/>
          </a:prstGeom>
          <a:noFill/>
          <a:ln cap="flat" cmpd="sng" w="13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9" name="Google Shape;389;p40"/>
          <p:cNvCxnSpPr>
            <a:stCxn id="386" idx="7"/>
            <a:endCxn id="387" idx="0"/>
          </p:cNvCxnSpPr>
          <p:nvPr/>
        </p:nvCxnSpPr>
        <p:spPr>
          <a:xfrm rot="-5400000">
            <a:off x="4667747" y="911245"/>
            <a:ext cx="61500" cy="1062300"/>
          </a:xfrm>
          <a:prstGeom prst="curvedConnector3">
            <a:avLst>
              <a:gd fmla="val 636145" name="adj1"/>
            </a:avLst>
          </a:prstGeom>
          <a:noFill/>
          <a:ln cap="flat" cmpd="sng" w="132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" name="Google Shape;390;p40"/>
          <p:cNvCxnSpPr>
            <a:stCxn id="387" idx="4"/>
            <a:endCxn id="386" idx="5"/>
          </p:cNvCxnSpPr>
          <p:nvPr/>
        </p:nvCxnSpPr>
        <p:spPr>
          <a:xfrm flipH="1" rot="5400000">
            <a:off x="4667791" y="1269993"/>
            <a:ext cx="61500" cy="1062300"/>
          </a:xfrm>
          <a:prstGeom prst="curvedConnector3">
            <a:avLst>
              <a:gd fmla="val -512889" name="adj1"/>
            </a:avLst>
          </a:prstGeom>
          <a:noFill/>
          <a:ln cap="flat" cmpd="sng" w="13275">
            <a:solidFill>
              <a:srgbClr val="1C458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1" name="Google Shape;391;p40"/>
          <p:cNvSpPr txBox="1"/>
          <p:nvPr/>
        </p:nvSpPr>
        <p:spPr>
          <a:xfrm>
            <a:off x="4571796" y="2175222"/>
            <a:ext cx="325800" cy="300000"/>
          </a:xfrm>
          <a:prstGeom prst="rect">
            <a:avLst/>
          </a:prstGeom>
          <a:noFill/>
          <a:ln cap="flat" cmpd="sng" w="13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650" lIns="63650" spcFirstLastPara="1" rIns="63650" wrap="square" tIns="63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14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5038860" y="2428228"/>
            <a:ext cx="401700" cy="420300"/>
          </a:xfrm>
          <a:prstGeom prst="ellipse">
            <a:avLst/>
          </a:prstGeom>
          <a:solidFill>
            <a:srgbClr val="CFE2F3"/>
          </a:solidFill>
          <a:ln cap="flat" cmpd="sng" w="13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11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11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3" name="Google Shape;393;p40"/>
          <p:cNvCxnSpPr>
            <a:stCxn id="392" idx="0"/>
            <a:endCxn id="387" idx="4"/>
          </p:cNvCxnSpPr>
          <p:nvPr/>
        </p:nvCxnSpPr>
        <p:spPr>
          <a:xfrm rot="10800000">
            <a:off x="5229810" y="1831828"/>
            <a:ext cx="9900" cy="596400"/>
          </a:xfrm>
          <a:prstGeom prst="straightConnector1">
            <a:avLst/>
          </a:prstGeom>
          <a:noFill/>
          <a:ln cap="flat" cmpd="sng" w="13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94" name="Google Shape;394;p40"/>
          <p:cNvGraphicFramePr/>
          <p:nvPr/>
        </p:nvGraphicFramePr>
        <p:xfrm>
          <a:off x="2243750" y="121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08250"/>
                <a:gridCol w="708250"/>
              </a:tblGrid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5" name="Google Shape;395;p40"/>
          <p:cNvSpPr/>
          <p:nvPr/>
        </p:nvSpPr>
        <p:spPr>
          <a:xfrm>
            <a:off x="7752475" y="1087656"/>
            <a:ext cx="1107600" cy="1094400"/>
          </a:xfrm>
          <a:prstGeom prst="ellipse">
            <a:avLst/>
          </a:prstGeom>
          <a:solidFill>
            <a:schemeClr val="lt1"/>
          </a:solidFill>
          <a:ln cap="flat" cmpd="sng" w="12100">
            <a:solidFill>
              <a:srgbClr val="1C45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sp>
        <p:nvSpPr>
          <p:cNvPr id="396" name="Google Shape;396;p40"/>
          <p:cNvSpPr/>
          <p:nvPr/>
        </p:nvSpPr>
        <p:spPr>
          <a:xfrm>
            <a:off x="5851084" y="1006641"/>
            <a:ext cx="1529100" cy="1191300"/>
          </a:xfrm>
          <a:prstGeom prst="ellipse">
            <a:avLst/>
          </a:prstGeom>
          <a:solidFill>
            <a:schemeClr val="lt1"/>
          </a:solidFill>
          <a:ln cap="flat" cmpd="sng" w="12100">
            <a:solidFill>
              <a:srgbClr val="1C45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9"/>
          </a:p>
        </p:txBody>
      </p:sp>
      <p:sp>
        <p:nvSpPr>
          <p:cNvPr id="397" name="Google Shape;397;p40"/>
          <p:cNvSpPr/>
          <p:nvPr/>
        </p:nvSpPr>
        <p:spPr>
          <a:xfrm>
            <a:off x="8127136" y="1703836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8" name="Google Shape;398;p40"/>
          <p:cNvCxnSpPr>
            <a:stCxn id="397" idx="1"/>
            <a:endCxn id="397" idx="7"/>
          </p:cNvCxnSpPr>
          <p:nvPr/>
        </p:nvCxnSpPr>
        <p:spPr>
          <a:xfrm flipH="1" rot="-5400000">
            <a:off x="8309929" y="1630833"/>
            <a:ext cx="600" cy="258900"/>
          </a:xfrm>
          <a:prstGeom prst="curvedConnector3">
            <a:avLst>
              <a:gd fmla="val -54420029" name="adj1"/>
            </a:avLst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9" name="Google Shape;399;p40"/>
          <p:cNvSpPr txBox="1"/>
          <p:nvPr/>
        </p:nvSpPr>
        <p:spPr>
          <a:xfrm>
            <a:off x="8174351" y="1135869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0" name="Google Shape;400;p40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434372" y="1468115"/>
            <a:ext cx="263909" cy="2639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0"/>
          <p:cNvSpPr/>
          <p:nvPr/>
        </p:nvSpPr>
        <p:spPr>
          <a:xfrm>
            <a:off x="5876822" y="1413414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6975332" y="1413414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6538090" y="1051615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4" name="Google Shape;404;p40"/>
          <p:cNvCxnSpPr>
            <a:stCxn id="401" idx="7"/>
            <a:endCxn id="402" idx="0"/>
          </p:cNvCxnSpPr>
          <p:nvPr/>
        </p:nvCxnSpPr>
        <p:spPr>
          <a:xfrm rot="-5400000">
            <a:off x="6645929" y="957012"/>
            <a:ext cx="56100" cy="969000"/>
          </a:xfrm>
          <a:prstGeom prst="curvedConnector3">
            <a:avLst>
              <a:gd fmla="val 676314" name="adj1"/>
            </a:avLst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5" name="Google Shape;405;p40"/>
          <p:cNvCxnSpPr>
            <a:stCxn id="402" idx="4"/>
            <a:endCxn id="401" idx="5"/>
          </p:cNvCxnSpPr>
          <p:nvPr/>
        </p:nvCxnSpPr>
        <p:spPr>
          <a:xfrm flipH="1" rot="5400000">
            <a:off x="6645932" y="1284264"/>
            <a:ext cx="56100" cy="969000"/>
          </a:xfrm>
          <a:prstGeom prst="curvedConnector3">
            <a:avLst>
              <a:gd fmla="val -577559" name="adj1"/>
            </a:avLst>
          </a:prstGeom>
          <a:noFill/>
          <a:ln cap="flat" cmpd="sng" w="12100">
            <a:solidFill>
              <a:srgbClr val="1C458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6" name="Google Shape;406;p40"/>
          <p:cNvSpPr txBox="1"/>
          <p:nvPr/>
        </p:nvSpPr>
        <p:spPr>
          <a:xfrm>
            <a:off x="6545891" y="1730779"/>
            <a:ext cx="297000" cy="273600"/>
          </a:xfrm>
          <a:prstGeom prst="rect">
            <a:avLst/>
          </a:prstGeom>
          <a:noFill/>
          <a:ln cap="flat" cmpd="sng" w="12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16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6984471" y="2340696"/>
            <a:ext cx="366300" cy="383400"/>
          </a:xfrm>
          <a:prstGeom prst="ellipse">
            <a:avLst/>
          </a:prstGeom>
          <a:solidFill>
            <a:srgbClr val="CFE2F3"/>
          </a:solidFill>
          <a:ln cap="flat" cmpd="sng" w="121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050" lIns="58050" spcFirstLastPara="1" rIns="58050" wrap="square" tIns="5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1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1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8" name="Google Shape;408;p40"/>
          <p:cNvCxnSpPr>
            <a:stCxn id="407" idx="0"/>
            <a:endCxn id="402" idx="4"/>
          </p:cNvCxnSpPr>
          <p:nvPr/>
        </p:nvCxnSpPr>
        <p:spPr>
          <a:xfrm rot="10800000">
            <a:off x="7158621" y="1796796"/>
            <a:ext cx="9000" cy="543900"/>
          </a:xfrm>
          <a:prstGeom prst="straightConnector1">
            <a:avLst/>
          </a:prstGeom>
          <a:noFill/>
          <a:ln cap="flat" cmpd="sng" w="121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40"/>
          <p:cNvSpPr txBox="1"/>
          <p:nvPr/>
        </p:nvSpPr>
        <p:spPr>
          <a:xfrm>
            <a:off x="4861400" y="2866850"/>
            <a:ext cx="329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8050" lIns="58050" spcFirstLastPara="1" rIns="58050" wrap="square" tIns="580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</a:t>
            </a:r>
            <a:r>
              <a:rPr baseline="-25000" lang="en" sz="15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1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762"/>
              </a:spcBef>
              <a:spcAft>
                <a:spcPts val="762"/>
              </a:spcAft>
              <a:buNone/>
            </a:pPr>
            <a:r>
              <a:t/>
            </a:r>
            <a:endParaRPr baseline="-25000" sz="151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0" name="Google Shape;410;p40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508860" y="1489790"/>
            <a:ext cx="263909" cy="2639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" name="Google Shape;411;p40"/>
          <p:cNvGraphicFramePr/>
          <p:nvPr/>
        </p:nvGraphicFramePr>
        <p:xfrm>
          <a:off x="188250" y="352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40750"/>
                <a:gridCol w="462125"/>
                <a:gridCol w="972000"/>
              </a:tblGrid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aseline="-25000" lang="en" sz="1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Google Shape;412;p40"/>
          <p:cNvGraphicFramePr/>
          <p:nvPr/>
        </p:nvGraphicFramePr>
        <p:xfrm>
          <a:off x="2297050" y="352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08250"/>
                <a:gridCol w="708250"/>
              </a:tblGrid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strike="sng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40"/>
          <p:cNvSpPr txBox="1"/>
          <p:nvPr/>
        </p:nvSpPr>
        <p:spPr>
          <a:xfrm>
            <a:off x="3847483" y="3979637"/>
            <a:ext cx="29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this pareto-efficient?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40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Alternative Example: Failure of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ReACT-TTC Based Modified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189256" y="688851"/>
            <a:ext cx="47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  The case of co-ownership.</a:t>
            </a:r>
            <a:endParaRPr b="1" sz="15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1" name="Google Shape;421;p41"/>
          <p:cNvGraphicFramePr/>
          <p:nvPr/>
        </p:nvGraphicFramePr>
        <p:xfrm>
          <a:off x="182975" y="115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29325"/>
                <a:gridCol w="929325"/>
                <a:gridCol w="929325"/>
              </a:tblGrid>
              <a:tr h="3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" name="Google Shape;422;p41"/>
          <p:cNvSpPr/>
          <p:nvPr/>
        </p:nvSpPr>
        <p:spPr>
          <a:xfrm>
            <a:off x="7142340" y="1032329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7226918" y="1185185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7849452" y="116223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5480740" y="1116305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6540134" y="2290504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427" name="Google Shape;427;p41"/>
          <p:cNvSpPr txBox="1"/>
          <p:nvPr/>
        </p:nvSpPr>
        <p:spPr>
          <a:xfrm>
            <a:off x="7452078" y="581486"/>
            <a:ext cx="697200" cy="431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6933150" y="2455818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1"/>
          <p:cNvSpPr txBox="1"/>
          <p:nvPr/>
        </p:nvSpPr>
        <p:spPr>
          <a:xfrm>
            <a:off x="6933128" y="3236731"/>
            <a:ext cx="697200" cy="431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1"/>
          <p:cNvSpPr/>
          <p:nvPr/>
        </p:nvSpPr>
        <p:spPr>
          <a:xfrm>
            <a:off x="5873750" y="1260443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1"/>
          <p:cNvSpPr txBox="1"/>
          <p:nvPr/>
        </p:nvSpPr>
        <p:spPr>
          <a:xfrm>
            <a:off x="5753128" y="665044"/>
            <a:ext cx="697200" cy="431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2" name="Google Shape;432;p41"/>
          <p:cNvCxnSpPr>
            <a:stCxn id="430" idx="4"/>
            <a:endCxn id="428" idx="1"/>
          </p:cNvCxnSpPr>
          <p:nvPr/>
        </p:nvCxnSpPr>
        <p:spPr>
          <a:xfrm>
            <a:off x="6162050" y="1864043"/>
            <a:ext cx="855600" cy="6801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41"/>
          <p:cNvCxnSpPr>
            <a:stCxn id="423" idx="2"/>
            <a:endCxn id="430" idx="6"/>
          </p:cNvCxnSpPr>
          <p:nvPr/>
        </p:nvCxnSpPr>
        <p:spPr>
          <a:xfrm flipH="1">
            <a:off x="6450218" y="1486985"/>
            <a:ext cx="776700" cy="75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41"/>
          <p:cNvCxnSpPr>
            <a:stCxn id="428" idx="0"/>
            <a:endCxn id="423" idx="4"/>
          </p:cNvCxnSpPr>
          <p:nvPr/>
        </p:nvCxnSpPr>
        <p:spPr>
          <a:xfrm flipH="1" rot="10800000">
            <a:off x="7221450" y="1788918"/>
            <a:ext cx="293700" cy="6669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41"/>
          <p:cNvCxnSpPr>
            <a:endCxn id="424" idx="5"/>
          </p:cNvCxnSpPr>
          <p:nvPr/>
        </p:nvCxnSpPr>
        <p:spPr>
          <a:xfrm flipH="1" rot="10800000">
            <a:off x="7435011" y="1677439"/>
            <a:ext cx="906600" cy="880800"/>
          </a:xfrm>
          <a:prstGeom prst="curvedConnector2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41"/>
          <p:cNvSpPr txBox="1"/>
          <p:nvPr/>
        </p:nvSpPr>
        <p:spPr>
          <a:xfrm>
            <a:off x="7100" y="3860900"/>
            <a:ext cx="9015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 do we resolve the cycles considering that 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overlapping vertex? Different resolution process can impact the satisfaction of agents incident on the common vertex.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7" name="Google Shape;437;p41"/>
          <p:cNvGraphicFramePr/>
          <p:nvPr/>
        </p:nvGraphicFramePr>
        <p:xfrm>
          <a:off x="3086098" y="11595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94025"/>
                <a:gridCol w="935150"/>
              </a:tblGrid>
              <a:tr h="41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38" name="Google Shape;438;p41"/>
          <p:cNvCxnSpPr>
            <a:stCxn id="424" idx="3"/>
            <a:endCxn id="428" idx="7"/>
          </p:cNvCxnSpPr>
          <p:nvPr/>
        </p:nvCxnSpPr>
        <p:spPr>
          <a:xfrm flipH="1">
            <a:off x="7425393" y="1677439"/>
            <a:ext cx="508500" cy="8667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41"/>
          <p:cNvSpPr txBox="1"/>
          <p:nvPr/>
        </p:nvSpPr>
        <p:spPr>
          <a:xfrm>
            <a:off x="6789263" y="1804194"/>
            <a:ext cx="44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41"/>
          <p:cNvSpPr txBox="1"/>
          <p:nvPr/>
        </p:nvSpPr>
        <p:spPr>
          <a:xfrm>
            <a:off x="7728888" y="1875672"/>
            <a:ext cx="44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/>
          <p:cNvSpPr txBox="1"/>
          <p:nvPr>
            <p:ph idx="1" type="subTitle"/>
          </p:nvPr>
        </p:nvSpPr>
        <p:spPr>
          <a:xfrm>
            <a:off x="254300" y="-13156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Different Resolution Order Leading to Different Aggregate Satisfaction?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3986776" y="1017917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4050195" y="1132534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42"/>
          <p:cNvSpPr/>
          <p:nvPr/>
        </p:nvSpPr>
        <p:spPr>
          <a:xfrm>
            <a:off x="4516993" y="1115325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2"/>
          <p:cNvSpPr/>
          <p:nvPr/>
        </p:nvSpPr>
        <p:spPr>
          <a:xfrm>
            <a:off x="2740851" y="1080885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3535221" y="1961346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51" name="Google Shape;451;p42"/>
          <p:cNvSpPr txBox="1"/>
          <p:nvPr/>
        </p:nvSpPr>
        <p:spPr>
          <a:xfrm>
            <a:off x="4219028" y="600267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3829918" y="2085305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42"/>
          <p:cNvSpPr txBox="1"/>
          <p:nvPr/>
        </p:nvSpPr>
        <p:spPr>
          <a:xfrm>
            <a:off x="2945101" y="2150090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3035544" y="1188966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42"/>
          <p:cNvSpPr txBox="1"/>
          <p:nvPr/>
        </p:nvSpPr>
        <p:spPr>
          <a:xfrm>
            <a:off x="2984892" y="652973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6" name="Google Shape;456;p42"/>
          <p:cNvCxnSpPr>
            <a:stCxn id="454" idx="4"/>
            <a:endCxn id="452" idx="1"/>
          </p:cNvCxnSpPr>
          <p:nvPr/>
        </p:nvCxnSpPr>
        <p:spPr>
          <a:xfrm>
            <a:off x="3251694" y="1641666"/>
            <a:ext cx="641400" cy="5100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42"/>
          <p:cNvCxnSpPr>
            <a:stCxn id="447" idx="2"/>
            <a:endCxn id="454" idx="6"/>
          </p:cNvCxnSpPr>
          <p:nvPr/>
        </p:nvCxnSpPr>
        <p:spPr>
          <a:xfrm flipH="1">
            <a:off x="3467895" y="1358884"/>
            <a:ext cx="582300" cy="564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2"/>
          <p:cNvCxnSpPr>
            <a:stCxn id="452" idx="0"/>
            <a:endCxn id="447" idx="4"/>
          </p:cNvCxnSpPr>
          <p:nvPr/>
        </p:nvCxnSpPr>
        <p:spPr>
          <a:xfrm flipH="1" rot="10800000">
            <a:off x="4046068" y="1585205"/>
            <a:ext cx="220200" cy="5001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2"/>
          <p:cNvCxnSpPr>
            <a:endCxn id="448" idx="5"/>
          </p:cNvCxnSpPr>
          <p:nvPr/>
        </p:nvCxnSpPr>
        <p:spPr>
          <a:xfrm flipH="1" rot="10800000">
            <a:off x="4206184" y="1501728"/>
            <a:ext cx="679800" cy="660300"/>
          </a:xfrm>
          <a:prstGeom prst="curvedConnector2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2"/>
          <p:cNvCxnSpPr>
            <a:stCxn id="448" idx="3"/>
            <a:endCxn id="452" idx="7"/>
          </p:cNvCxnSpPr>
          <p:nvPr/>
        </p:nvCxnSpPr>
        <p:spPr>
          <a:xfrm flipH="1">
            <a:off x="4199002" y="1501728"/>
            <a:ext cx="381300" cy="649800"/>
          </a:xfrm>
          <a:prstGeom prst="straightConnector1">
            <a:avLst/>
          </a:prstGeom>
          <a:noFill/>
          <a:ln cap="flat" cmpd="sng" w="14275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42"/>
          <p:cNvSpPr txBox="1"/>
          <p:nvPr/>
        </p:nvSpPr>
        <p:spPr>
          <a:xfrm>
            <a:off x="3712078" y="1576794"/>
            <a:ext cx="33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42"/>
          <p:cNvSpPr txBox="1"/>
          <p:nvPr/>
        </p:nvSpPr>
        <p:spPr>
          <a:xfrm>
            <a:off x="4416641" y="1640340"/>
            <a:ext cx="33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3" name="Google Shape;463;p42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102009" y="1379088"/>
            <a:ext cx="284650" cy="2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/>
          <p:nvPr/>
        </p:nvSpPr>
        <p:spPr>
          <a:xfrm>
            <a:off x="6603601" y="1231106"/>
            <a:ext cx="933600" cy="611100"/>
          </a:xfrm>
          <a:prstGeom prst="ellipse">
            <a:avLst/>
          </a:prstGeom>
          <a:solidFill>
            <a:schemeClr val="lt2"/>
          </a:solidFill>
          <a:ln cap="flat" cmpd="sng" w="13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9">
              <a:solidFill>
                <a:schemeClr val="dk1"/>
              </a:solidFill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6861091" y="1350540"/>
            <a:ext cx="395100" cy="413400"/>
          </a:xfrm>
          <a:prstGeom prst="ellipse">
            <a:avLst/>
          </a:prstGeom>
          <a:solidFill>
            <a:srgbClr val="CFE2F3"/>
          </a:solidFill>
          <a:ln cap="flat" cmpd="sng" w="13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2"/>
          <p:cNvSpPr/>
          <p:nvPr/>
        </p:nvSpPr>
        <p:spPr>
          <a:xfrm>
            <a:off x="5472082" y="1247742"/>
            <a:ext cx="933600" cy="611100"/>
          </a:xfrm>
          <a:prstGeom prst="ellipse">
            <a:avLst/>
          </a:prstGeom>
          <a:solidFill>
            <a:schemeClr val="lt2"/>
          </a:solidFill>
          <a:ln cap="flat" cmpd="sng" w="13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9">
              <a:solidFill>
                <a:schemeClr val="dk1"/>
              </a:solidFill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6829429" y="878763"/>
            <a:ext cx="477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25" lIns="62625" spcFirstLastPara="1" rIns="62625" wrap="square" tIns="6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5741327" y="1353304"/>
            <a:ext cx="395100" cy="413400"/>
          </a:xfrm>
          <a:prstGeom prst="ellipse">
            <a:avLst/>
          </a:prstGeom>
          <a:solidFill>
            <a:srgbClr val="CFE2F3"/>
          </a:solidFill>
          <a:ln cap="flat" cmpd="sng" w="13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5722020" y="498363"/>
            <a:ext cx="477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25" lIns="62625" spcFirstLastPara="1" rIns="62625" wrap="square" tIns="6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0" name="Google Shape;470;p42"/>
          <p:cNvCxnSpPr>
            <a:stCxn id="465" idx="2"/>
            <a:endCxn id="468" idx="6"/>
          </p:cNvCxnSpPr>
          <p:nvPr/>
        </p:nvCxnSpPr>
        <p:spPr>
          <a:xfrm flipH="1">
            <a:off x="6136291" y="1557240"/>
            <a:ext cx="724800" cy="2700"/>
          </a:xfrm>
          <a:prstGeom prst="straightConnector1">
            <a:avLst/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42"/>
          <p:cNvCxnSpPr/>
          <p:nvPr/>
        </p:nvCxnSpPr>
        <p:spPr>
          <a:xfrm flipH="1" rot="-5400000">
            <a:off x="5948234" y="1280274"/>
            <a:ext cx="600" cy="279300"/>
          </a:xfrm>
          <a:prstGeom prst="curvedConnector3">
            <a:avLst>
              <a:gd fmla="val -93030621" name="adj1"/>
            </a:avLst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72" name="Google Shape;472;p42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610711" y="1350557"/>
            <a:ext cx="284650" cy="2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2"/>
          <p:cNvSpPr/>
          <p:nvPr/>
        </p:nvSpPr>
        <p:spPr>
          <a:xfrm>
            <a:off x="7996950" y="1190964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8274429" y="1299058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8231378" y="490260"/>
            <a:ext cx="5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endParaRPr sz="1050"/>
          </a:p>
        </p:txBody>
      </p:sp>
      <p:cxnSp>
        <p:nvCxnSpPr>
          <p:cNvPr id="476" name="Google Shape;476;p42"/>
          <p:cNvCxnSpPr/>
          <p:nvPr/>
        </p:nvCxnSpPr>
        <p:spPr>
          <a:xfrm flipH="1" rot="-5400000">
            <a:off x="8490297" y="1210181"/>
            <a:ext cx="600" cy="305700"/>
          </a:xfrm>
          <a:prstGeom prst="curvedConnector3">
            <a:avLst>
              <a:gd fmla="val -93030621" name="adj1"/>
            </a:avLst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7" name="Google Shape;477;p42"/>
          <p:cNvSpPr txBox="1"/>
          <p:nvPr/>
        </p:nvSpPr>
        <p:spPr>
          <a:xfrm>
            <a:off x="4752050" y="2143805"/>
            <a:ext cx="4117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 </a:t>
            </a:r>
            <a:r>
              <a:rPr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Shorter Cycle Resolution</a:t>
            </a:r>
            <a:r>
              <a:rPr b="1"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(0, 0, 1, 1)</a:t>
            </a:r>
            <a:endParaRPr b="1"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8" name="Google Shape;478;p42"/>
          <p:cNvGraphicFramePr/>
          <p:nvPr/>
        </p:nvGraphicFramePr>
        <p:xfrm>
          <a:off x="122275" y="90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818025"/>
                <a:gridCol w="818025"/>
                <a:gridCol w="818025"/>
              </a:tblGrid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9" name="Google Shape;479;p42"/>
          <p:cNvGraphicFramePr/>
          <p:nvPr/>
        </p:nvGraphicFramePr>
        <p:xfrm>
          <a:off x="687796" y="2824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48400"/>
                <a:gridCol w="763650"/>
              </a:tblGrid>
              <a:tr h="37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 txBox="1"/>
          <p:nvPr>
            <p:ph idx="1" type="subTitle"/>
          </p:nvPr>
        </p:nvSpPr>
        <p:spPr>
          <a:xfrm>
            <a:off x="254300" y="-13156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Different Resolution Order Leading to Different Aggregate Satisfaction?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3986776" y="1017917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4050195" y="1132534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4516993" y="1115325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2740851" y="1080885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3535221" y="1961346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490" name="Google Shape;490;p43"/>
          <p:cNvSpPr txBox="1"/>
          <p:nvPr/>
        </p:nvSpPr>
        <p:spPr>
          <a:xfrm>
            <a:off x="4219028" y="600267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3829918" y="2085305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43"/>
          <p:cNvSpPr txBox="1"/>
          <p:nvPr/>
        </p:nvSpPr>
        <p:spPr>
          <a:xfrm>
            <a:off x="2945101" y="2150090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43"/>
          <p:cNvSpPr/>
          <p:nvPr/>
        </p:nvSpPr>
        <p:spPr>
          <a:xfrm>
            <a:off x="3035544" y="1188966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2984892" y="652973"/>
            <a:ext cx="5229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5" name="Google Shape;495;p43"/>
          <p:cNvCxnSpPr>
            <a:stCxn id="493" idx="4"/>
            <a:endCxn id="491" idx="1"/>
          </p:cNvCxnSpPr>
          <p:nvPr/>
        </p:nvCxnSpPr>
        <p:spPr>
          <a:xfrm>
            <a:off x="3251694" y="1641666"/>
            <a:ext cx="641400" cy="5100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43"/>
          <p:cNvCxnSpPr>
            <a:stCxn id="486" idx="2"/>
            <a:endCxn id="493" idx="6"/>
          </p:cNvCxnSpPr>
          <p:nvPr/>
        </p:nvCxnSpPr>
        <p:spPr>
          <a:xfrm flipH="1">
            <a:off x="3467895" y="1358884"/>
            <a:ext cx="582300" cy="564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43"/>
          <p:cNvCxnSpPr>
            <a:stCxn id="491" idx="0"/>
            <a:endCxn id="486" idx="4"/>
          </p:cNvCxnSpPr>
          <p:nvPr/>
        </p:nvCxnSpPr>
        <p:spPr>
          <a:xfrm flipH="1" rot="10800000">
            <a:off x="4046068" y="1585205"/>
            <a:ext cx="220200" cy="500100"/>
          </a:xfrm>
          <a:prstGeom prst="straightConnector1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43"/>
          <p:cNvCxnSpPr>
            <a:endCxn id="487" idx="5"/>
          </p:cNvCxnSpPr>
          <p:nvPr/>
        </p:nvCxnSpPr>
        <p:spPr>
          <a:xfrm flipH="1" rot="10800000">
            <a:off x="4206184" y="1501728"/>
            <a:ext cx="679800" cy="660300"/>
          </a:xfrm>
          <a:prstGeom prst="curvedConnector2">
            <a:avLst/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3"/>
          <p:cNvCxnSpPr>
            <a:stCxn id="487" idx="3"/>
            <a:endCxn id="491" idx="7"/>
          </p:cNvCxnSpPr>
          <p:nvPr/>
        </p:nvCxnSpPr>
        <p:spPr>
          <a:xfrm flipH="1">
            <a:off x="4199002" y="1501728"/>
            <a:ext cx="381300" cy="649800"/>
          </a:xfrm>
          <a:prstGeom prst="straightConnector1">
            <a:avLst/>
          </a:prstGeom>
          <a:noFill/>
          <a:ln cap="flat" cmpd="sng" w="14275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43"/>
          <p:cNvSpPr txBox="1"/>
          <p:nvPr/>
        </p:nvSpPr>
        <p:spPr>
          <a:xfrm>
            <a:off x="3712078" y="1576794"/>
            <a:ext cx="33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4416641" y="1640340"/>
            <a:ext cx="33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2" name="Google Shape;502;p43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102009" y="1379088"/>
            <a:ext cx="284650" cy="2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3"/>
          <p:cNvSpPr/>
          <p:nvPr/>
        </p:nvSpPr>
        <p:spPr>
          <a:xfrm>
            <a:off x="6603601" y="1231106"/>
            <a:ext cx="933600" cy="611100"/>
          </a:xfrm>
          <a:prstGeom prst="ellipse">
            <a:avLst/>
          </a:prstGeom>
          <a:solidFill>
            <a:schemeClr val="lt2"/>
          </a:solidFill>
          <a:ln cap="flat" cmpd="sng" w="13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9">
              <a:solidFill>
                <a:schemeClr val="dk1"/>
              </a:solidFill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6861091" y="1350540"/>
            <a:ext cx="395100" cy="413400"/>
          </a:xfrm>
          <a:prstGeom prst="ellipse">
            <a:avLst/>
          </a:prstGeom>
          <a:solidFill>
            <a:srgbClr val="CFE2F3"/>
          </a:solidFill>
          <a:ln cap="flat" cmpd="sng" w="13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5472082" y="1247742"/>
            <a:ext cx="933600" cy="611100"/>
          </a:xfrm>
          <a:prstGeom prst="ellipse">
            <a:avLst/>
          </a:prstGeom>
          <a:solidFill>
            <a:schemeClr val="lt2"/>
          </a:solidFill>
          <a:ln cap="flat" cmpd="sng" w="13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59">
              <a:solidFill>
                <a:schemeClr val="dk1"/>
              </a:solidFill>
            </a:endParaRPr>
          </a:p>
        </p:txBody>
      </p:sp>
      <p:sp>
        <p:nvSpPr>
          <p:cNvPr id="506" name="Google Shape;506;p43"/>
          <p:cNvSpPr txBox="1"/>
          <p:nvPr/>
        </p:nvSpPr>
        <p:spPr>
          <a:xfrm>
            <a:off x="6829429" y="878763"/>
            <a:ext cx="477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25" lIns="62625" spcFirstLastPara="1" rIns="62625" wrap="square" tIns="6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5741327" y="1353304"/>
            <a:ext cx="395100" cy="413400"/>
          </a:xfrm>
          <a:prstGeom prst="ellipse">
            <a:avLst/>
          </a:prstGeom>
          <a:solidFill>
            <a:srgbClr val="CFE2F3"/>
          </a:solidFill>
          <a:ln cap="flat" cmpd="sng" w="13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3"/>
          <p:cNvSpPr txBox="1"/>
          <p:nvPr/>
        </p:nvSpPr>
        <p:spPr>
          <a:xfrm>
            <a:off x="5722020" y="498363"/>
            <a:ext cx="477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25" lIns="62625" spcFirstLastPara="1" rIns="62625" wrap="square" tIns="6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9" name="Google Shape;509;p43"/>
          <p:cNvCxnSpPr>
            <a:stCxn id="504" idx="2"/>
            <a:endCxn id="507" idx="6"/>
          </p:cNvCxnSpPr>
          <p:nvPr/>
        </p:nvCxnSpPr>
        <p:spPr>
          <a:xfrm flipH="1">
            <a:off x="6136291" y="1557240"/>
            <a:ext cx="724800" cy="2700"/>
          </a:xfrm>
          <a:prstGeom prst="straightConnector1">
            <a:avLst/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43"/>
          <p:cNvCxnSpPr/>
          <p:nvPr/>
        </p:nvCxnSpPr>
        <p:spPr>
          <a:xfrm flipH="1" rot="-5400000">
            <a:off x="5948234" y="1280274"/>
            <a:ext cx="600" cy="279300"/>
          </a:xfrm>
          <a:prstGeom prst="curvedConnector3">
            <a:avLst>
              <a:gd fmla="val -93030621" name="adj1"/>
            </a:avLst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511" name="Google Shape;511;p43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610711" y="1350557"/>
            <a:ext cx="284650" cy="2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3"/>
          <p:cNvSpPr/>
          <p:nvPr/>
        </p:nvSpPr>
        <p:spPr>
          <a:xfrm>
            <a:off x="7996950" y="1190964"/>
            <a:ext cx="1021800" cy="669000"/>
          </a:xfrm>
          <a:prstGeom prst="ellipse">
            <a:avLst/>
          </a:prstGeom>
          <a:solidFill>
            <a:schemeClr val="lt2"/>
          </a:solidFill>
          <a:ln cap="flat" cmpd="sng" w="14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0">
              <a:solidFill>
                <a:schemeClr val="dk1"/>
              </a:solidFill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8274429" y="1299058"/>
            <a:ext cx="432300" cy="452700"/>
          </a:xfrm>
          <a:prstGeom prst="ellipse">
            <a:avLst/>
          </a:prstGeom>
          <a:solidFill>
            <a:srgbClr val="CFE2F3"/>
          </a:solidFill>
          <a:ln cap="flat" cmpd="sng" w="14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5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43"/>
          <p:cNvSpPr txBox="1"/>
          <p:nvPr/>
        </p:nvSpPr>
        <p:spPr>
          <a:xfrm>
            <a:off x="8231378" y="490260"/>
            <a:ext cx="5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endParaRPr sz="1050"/>
          </a:p>
        </p:txBody>
      </p:sp>
      <p:cxnSp>
        <p:nvCxnSpPr>
          <p:cNvPr id="515" name="Google Shape;515;p43"/>
          <p:cNvCxnSpPr/>
          <p:nvPr/>
        </p:nvCxnSpPr>
        <p:spPr>
          <a:xfrm flipH="1" rot="-5400000">
            <a:off x="8490297" y="1210181"/>
            <a:ext cx="600" cy="305700"/>
          </a:xfrm>
          <a:prstGeom prst="curvedConnector3">
            <a:avLst>
              <a:gd fmla="val -93030621" name="adj1"/>
            </a:avLst>
          </a:prstGeom>
          <a:noFill/>
          <a:ln cap="flat" cmpd="sng" w="142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6" name="Google Shape;516;p43"/>
          <p:cNvSpPr txBox="1"/>
          <p:nvPr/>
        </p:nvSpPr>
        <p:spPr>
          <a:xfrm>
            <a:off x="4752050" y="2143805"/>
            <a:ext cx="4117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 </a:t>
            </a:r>
            <a:r>
              <a:rPr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Shorter Cycle Resolution</a:t>
            </a:r>
            <a:r>
              <a:rPr b="1" lang="en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(0, 0, 1, 1)</a:t>
            </a:r>
            <a:endParaRPr b="1"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17" name="Google Shape;517;p43"/>
          <p:cNvGraphicFramePr/>
          <p:nvPr/>
        </p:nvGraphicFramePr>
        <p:xfrm>
          <a:off x="122275" y="90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818025"/>
                <a:gridCol w="818025"/>
                <a:gridCol w="818025"/>
              </a:tblGrid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8" name="Google Shape;518;p43"/>
          <p:cNvGraphicFramePr/>
          <p:nvPr/>
        </p:nvGraphicFramePr>
        <p:xfrm>
          <a:off x="687796" y="2824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48400"/>
                <a:gridCol w="763650"/>
              </a:tblGrid>
              <a:tr h="37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9" name="Google Shape;519;p43"/>
          <p:cNvSpPr/>
          <p:nvPr/>
        </p:nvSpPr>
        <p:spPr>
          <a:xfrm>
            <a:off x="4083283" y="3040306"/>
            <a:ext cx="913200" cy="597900"/>
          </a:xfrm>
          <a:prstGeom prst="ellipse">
            <a:avLst/>
          </a:prstGeom>
          <a:solidFill>
            <a:schemeClr val="lt2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38">
              <a:solidFill>
                <a:schemeClr val="dk1"/>
              </a:solidFill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4139946" y="3142712"/>
            <a:ext cx="386400" cy="404400"/>
          </a:xfrm>
          <a:prstGeom prst="ellipse">
            <a:avLst/>
          </a:prstGeom>
          <a:solidFill>
            <a:srgbClr val="CFE2F3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38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4557010" y="3127336"/>
            <a:ext cx="386400" cy="404400"/>
          </a:xfrm>
          <a:prstGeom prst="ellipse">
            <a:avLst/>
          </a:prstGeom>
          <a:solidFill>
            <a:srgbClr val="CFE2F3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38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2970101" y="3096566"/>
            <a:ext cx="913200" cy="597900"/>
          </a:xfrm>
          <a:prstGeom prst="ellipse">
            <a:avLst/>
          </a:prstGeom>
          <a:solidFill>
            <a:schemeClr val="lt2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38">
              <a:solidFill>
                <a:schemeClr val="dk1"/>
              </a:solidFill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3679837" y="3883222"/>
            <a:ext cx="913200" cy="597900"/>
          </a:xfrm>
          <a:prstGeom prst="ellipse">
            <a:avLst/>
          </a:prstGeom>
          <a:solidFill>
            <a:schemeClr val="lt2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38">
              <a:solidFill>
                <a:schemeClr val="dk1"/>
              </a:solidFill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4290790" y="2668622"/>
            <a:ext cx="467100" cy="33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225" lIns="61225" spcFirstLastPara="1" rIns="61225" wrap="square" tIns="61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3943137" y="3993974"/>
            <a:ext cx="386400" cy="404400"/>
          </a:xfrm>
          <a:prstGeom prst="ellipse">
            <a:avLst/>
          </a:prstGeom>
          <a:solidFill>
            <a:srgbClr val="CFE2F3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38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43"/>
          <p:cNvSpPr txBox="1"/>
          <p:nvPr/>
        </p:nvSpPr>
        <p:spPr>
          <a:xfrm>
            <a:off x="3943122" y="4517148"/>
            <a:ext cx="467100" cy="33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225" lIns="61225" spcFirstLastPara="1" rIns="61225" wrap="square" tIns="61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3233396" y="3193131"/>
            <a:ext cx="386400" cy="404400"/>
          </a:xfrm>
          <a:prstGeom prst="ellipse">
            <a:avLst/>
          </a:prstGeom>
          <a:solidFill>
            <a:srgbClr val="CFE2F3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38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3152586" y="2734550"/>
            <a:ext cx="467100" cy="33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225" lIns="61225" spcFirstLastPara="1" rIns="61225" wrap="square" tIns="61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9" name="Google Shape;529;p43"/>
          <p:cNvCxnSpPr>
            <a:stCxn id="527" idx="4"/>
            <a:endCxn id="525" idx="1"/>
          </p:cNvCxnSpPr>
          <p:nvPr/>
        </p:nvCxnSpPr>
        <p:spPr>
          <a:xfrm>
            <a:off x="3426596" y="3597531"/>
            <a:ext cx="573000" cy="455700"/>
          </a:xfrm>
          <a:prstGeom prst="straightConnector1">
            <a:avLst/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43"/>
          <p:cNvCxnSpPr>
            <a:stCxn id="520" idx="2"/>
            <a:endCxn id="527" idx="6"/>
          </p:cNvCxnSpPr>
          <p:nvPr/>
        </p:nvCxnSpPr>
        <p:spPr>
          <a:xfrm flipH="1">
            <a:off x="3619746" y="3344912"/>
            <a:ext cx="520200" cy="50400"/>
          </a:xfrm>
          <a:prstGeom prst="straightConnector1">
            <a:avLst/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43"/>
          <p:cNvCxnSpPr>
            <a:stCxn id="525" idx="0"/>
            <a:endCxn id="520" idx="4"/>
          </p:cNvCxnSpPr>
          <p:nvPr/>
        </p:nvCxnSpPr>
        <p:spPr>
          <a:xfrm flipH="1" rot="10800000">
            <a:off x="4136337" y="3546974"/>
            <a:ext cx="196800" cy="447000"/>
          </a:xfrm>
          <a:prstGeom prst="straightConnector1">
            <a:avLst/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2" name="Google Shape;532;p43"/>
          <p:cNvCxnSpPr>
            <a:endCxn id="521" idx="5"/>
          </p:cNvCxnSpPr>
          <p:nvPr/>
        </p:nvCxnSpPr>
        <p:spPr>
          <a:xfrm flipH="1" rot="10800000">
            <a:off x="4279323" y="3472513"/>
            <a:ext cx="607500" cy="590100"/>
          </a:xfrm>
          <a:prstGeom prst="curvedConnector2">
            <a:avLst/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43"/>
          <p:cNvCxnSpPr>
            <a:stCxn id="521" idx="3"/>
            <a:endCxn id="525" idx="7"/>
          </p:cNvCxnSpPr>
          <p:nvPr/>
        </p:nvCxnSpPr>
        <p:spPr>
          <a:xfrm flipH="1">
            <a:off x="4273097" y="3472513"/>
            <a:ext cx="340500" cy="580800"/>
          </a:xfrm>
          <a:prstGeom prst="straightConnector1">
            <a:avLst/>
          </a:prstGeom>
          <a:noFill/>
          <a:ln cap="flat" cmpd="sng" w="12775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4" name="Google Shape;534;p43"/>
          <p:cNvSpPr txBox="1"/>
          <p:nvPr/>
        </p:nvSpPr>
        <p:spPr>
          <a:xfrm>
            <a:off x="3846741" y="3557418"/>
            <a:ext cx="300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1225" lIns="61225" spcFirstLastPara="1" rIns="61225" wrap="square" tIns="61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4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43"/>
          <p:cNvSpPr txBox="1"/>
          <p:nvPr/>
        </p:nvSpPr>
        <p:spPr>
          <a:xfrm>
            <a:off x="4416546" y="3605305"/>
            <a:ext cx="300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1225" lIns="61225" spcFirstLastPara="1" rIns="61225" wrap="square" tIns="61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4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6" name="Google Shape;536;p43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079697" y="3362999"/>
            <a:ext cx="254322" cy="25432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/>
          <p:nvPr/>
        </p:nvSpPr>
        <p:spPr>
          <a:xfrm>
            <a:off x="5417567" y="3243766"/>
            <a:ext cx="913200" cy="597900"/>
          </a:xfrm>
          <a:prstGeom prst="ellipse">
            <a:avLst/>
          </a:prstGeom>
          <a:solidFill>
            <a:schemeClr val="lt2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938">
              <a:solidFill>
                <a:schemeClr val="dk1"/>
              </a:solidFill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5691311" y="3330796"/>
            <a:ext cx="386400" cy="404400"/>
          </a:xfrm>
          <a:prstGeom prst="ellipse">
            <a:avLst/>
          </a:prstGeom>
          <a:solidFill>
            <a:srgbClr val="CFE2F3"/>
          </a:solidFill>
          <a:ln cap="flat" cmpd="sng" w="127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25" lIns="61225" spcFirstLastPara="1" rIns="61225" wrap="square" tIns="6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38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3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43"/>
          <p:cNvSpPr txBox="1"/>
          <p:nvPr/>
        </p:nvSpPr>
        <p:spPr>
          <a:xfrm>
            <a:off x="5625075" y="2941723"/>
            <a:ext cx="4671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225" lIns="61225" spcFirstLastPara="1" rIns="61225" wrap="square" tIns="61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0" name="Google Shape;540;p43"/>
          <p:cNvCxnSpPr/>
          <p:nvPr/>
        </p:nvCxnSpPr>
        <p:spPr>
          <a:xfrm flipH="1" rot="-5400000">
            <a:off x="5858405" y="3136548"/>
            <a:ext cx="600" cy="273300"/>
          </a:xfrm>
          <a:prstGeom prst="curvedConnector3">
            <a:avLst>
              <a:gd fmla="val -93030621" name="adj1"/>
            </a:avLst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1" name="Google Shape;541;p43"/>
          <p:cNvSpPr txBox="1"/>
          <p:nvPr/>
        </p:nvSpPr>
        <p:spPr>
          <a:xfrm>
            <a:off x="4713100" y="4360280"/>
            <a:ext cx="4117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Longer Cycle Resolution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(1, 1, 1, 0)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4"/>
          <p:cNvSpPr txBox="1"/>
          <p:nvPr>
            <p:ph type="ctrTitle"/>
          </p:nvPr>
        </p:nvSpPr>
        <p:spPr>
          <a:xfrm>
            <a:off x="873701" y="1377375"/>
            <a:ext cx="7712100" cy="148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Hypothesis</a:t>
            </a:r>
            <a:r>
              <a:rPr b="1" lang="en" sz="29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" sz="29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longer cycle resolution lead to higher aggregate satisfaction?</a:t>
            </a:r>
            <a:endParaRPr b="1" sz="29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1" name="Google Shape;551;p45"/>
          <p:cNvGraphicFramePr/>
          <p:nvPr/>
        </p:nvGraphicFramePr>
        <p:xfrm>
          <a:off x="242825" y="126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06325"/>
                <a:gridCol w="646625"/>
                <a:gridCol w="1043675"/>
              </a:tblGrid>
              <a:tr h="36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2" name="Google Shape;552;p45"/>
          <p:cNvSpPr txBox="1"/>
          <p:nvPr>
            <p:ph idx="1" type="subTitle"/>
          </p:nvPr>
        </p:nvSpPr>
        <p:spPr>
          <a:xfrm>
            <a:off x="242825" y="9773"/>
            <a:ext cx="8520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Inv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alidation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: Counter Example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3" name="Google Shape;553;p45"/>
          <p:cNvGraphicFramePr/>
          <p:nvPr/>
        </p:nvGraphicFramePr>
        <p:xfrm>
          <a:off x="2712281" y="1270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19125"/>
                <a:gridCol w="833850"/>
              </a:tblGrid>
              <a:tr h="42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4" name="Google Shape;554;p45"/>
          <p:cNvSpPr/>
          <p:nvPr/>
        </p:nvSpPr>
        <p:spPr>
          <a:xfrm>
            <a:off x="6893476" y="1146539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555" name="Google Shape;555;p45"/>
          <p:cNvSpPr/>
          <p:nvPr/>
        </p:nvSpPr>
        <p:spPr>
          <a:xfrm>
            <a:off x="6978055" y="1299395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</a:t>
            </a:r>
            <a:r>
              <a:rPr baseline="-25000" lang="en" sz="1600"/>
              <a:t>2</a:t>
            </a:r>
            <a:endParaRPr baseline="-25000" sz="1600"/>
          </a:p>
        </p:txBody>
      </p:sp>
      <p:sp>
        <p:nvSpPr>
          <p:cNvPr id="556" name="Google Shape;556;p45"/>
          <p:cNvSpPr/>
          <p:nvPr/>
        </p:nvSpPr>
        <p:spPr>
          <a:xfrm>
            <a:off x="7600589" y="127644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baseline="-25000" lang="en"/>
              <a:t>4</a:t>
            </a:r>
            <a:endParaRPr baseline="-25000"/>
          </a:p>
        </p:txBody>
      </p:sp>
      <p:sp>
        <p:nvSpPr>
          <p:cNvPr id="557" name="Google Shape;557;p45"/>
          <p:cNvSpPr/>
          <p:nvPr/>
        </p:nvSpPr>
        <p:spPr>
          <a:xfrm>
            <a:off x="5231876" y="1230515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558" name="Google Shape;558;p45"/>
          <p:cNvSpPr/>
          <p:nvPr/>
        </p:nvSpPr>
        <p:spPr>
          <a:xfrm>
            <a:off x="6291270" y="2404714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559" name="Google Shape;559;p45"/>
          <p:cNvSpPr txBox="1"/>
          <p:nvPr/>
        </p:nvSpPr>
        <p:spPr>
          <a:xfrm>
            <a:off x="7203214" y="695696"/>
            <a:ext cx="6972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45"/>
          <p:cNvSpPr/>
          <p:nvPr/>
        </p:nvSpPr>
        <p:spPr>
          <a:xfrm>
            <a:off x="6684287" y="2570028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45"/>
          <p:cNvSpPr txBox="1"/>
          <p:nvPr/>
        </p:nvSpPr>
        <p:spPr>
          <a:xfrm>
            <a:off x="6684264" y="3350941"/>
            <a:ext cx="6972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5624887" y="1374653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45"/>
          <p:cNvSpPr txBox="1"/>
          <p:nvPr/>
        </p:nvSpPr>
        <p:spPr>
          <a:xfrm>
            <a:off x="5504264" y="779254"/>
            <a:ext cx="6972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4" name="Google Shape;564;p45"/>
          <p:cNvCxnSpPr>
            <a:stCxn id="562" idx="4"/>
            <a:endCxn id="560" idx="1"/>
          </p:cNvCxnSpPr>
          <p:nvPr/>
        </p:nvCxnSpPr>
        <p:spPr>
          <a:xfrm>
            <a:off x="5913187" y="1978253"/>
            <a:ext cx="855600" cy="6801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45"/>
          <p:cNvCxnSpPr>
            <a:stCxn id="555" idx="2"/>
            <a:endCxn id="562" idx="6"/>
          </p:cNvCxnSpPr>
          <p:nvPr/>
        </p:nvCxnSpPr>
        <p:spPr>
          <a:xfrm flipH="1">
            <a:off x="6201355" y="1601195"/>
            <a:ext cx="776700" cy="75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45"/>
          <p:cNvCxnSpPr>
            <a:stCxn id="560" idx="0"/>
            <a:endCxn id="555" idx="4"/>
          </p:cNvCxnSpPr>
          <p:nvPr/>
        </p:nvCxnSpPr>
        <p:spPr>
          <a:xfrm flipH="1" rot="10800000">
            <a:off x="6972587" y="1903128"/>
            <a:ext cx="293700" cy="6669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45"/>
          <p:cNvCxnSpPr>
            <a:endCxn id="556" idx="5"/>
          </p:cNvCxnSpPr>
          <p:nvPr/>
        </p:nvCxnSpPr>
        <p:spPr>
          <a:xfrm flipH="1" rot="10800000">
            <a:off x="7186148" y="1791649"/>
            <a:ext cx="906600" cy="880800"/>
          </a:xfrm>
          <a:prstGeom prst="curvedConnector2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45"/>
          <p:cNvCxnSpPr>
            <a:stCxn id="556" idx="3"/>
            <a:endCxn id="560" idx="7"/>
          </p:cNvCxnSpPr>
          <p:nvPr/>
        </p:nvCxnSpPr>
        <p:spPr>
          <a:xfrm flipH="1">
            <a:off x="7176530" y="1791649"/>
            <a:ext cx="508500" cy="8667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45"/>
          <p:cNvSpPr txBox="1"/>
          <p:nvPr/>
        </p:nvSpPr>
        <p:spPr>
          <a:xfrm>
            <a:off x="6540400" y="1918404"/>
            <a:ext cx="44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70" name="Google Shape;570;p45"/>
          <p:cNvSpPr txBox="1"/>
          <p:nvPr/>
        </p:nvSpPr>
        <p:spPr>
          <a:xfrm>
            <a:off x="7480025" y="1989882"/>
            <a:ext cx="44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242825" y="3958175"/>
            <a:ext cx="83031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slightly updated the preferences of the agents (a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having an incoming edge to the common vertex (a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aseline="-25000"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6"/>
          <p:cNvSpPr txBox="1"/>
          <p:nvPr>
            <p:ph idx="1" type="subTitle"/>
          </p:nvPr>
        </p:nvSpPr>
        <p:spPr>
          <a:xfrm>
            <a:off x="407900" y="106225"/>
            <a:ext cx="8378400" cy="510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Invalidation: Counter Example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46"/>
          <p:cNvSpPr/>
          <p:nvPr/>
        </p:nvSpPr>
        <p:spPr>
          <a:xfrm>
            <a:off x="4200397" y="1087190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578" name="Google Shape;578;p46"/>
          <p:cNvSpPr/>
          <p:nvPr/>
        </p:nvSpPr>
        <p:spPr>
          <a:xfrm>
            <a:off x="4253399" y="1182980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46"/>
          <p:cNvSpPr/>
          <p:nvPr/>
        </p:nvSpPr>
        <p:spPr>
          <a:xfrm>
            <a:off x="4643521" y="1168597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46"/>
          <p:cNvSpPr/>
          <p:nvPr/>
        </p:nvSpPr>
        <p:spPr>
          <a:xfrm>
            <a:off x="3159125" y="113981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581" name="Google Shape;581;p46"/>
          <p:cNvSpPr/>
          <p:nvPr/>
        </p:nvSpPr>
        <p:spPr>
          <a:xfrm>
            <a:off x="3823013" y="187564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582" name="Google Shape;582;p46"/>
          <p:cNvSpPr/>
          <p:nvPr/>
        </p:nvSpPr>
        <p:spPr>
          <a:xfrm>
            <a:off x="4069304" y="197924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46"/>
          <p:cNvSpPr txBox="1"/>
          <p:nvPr/>
        </p:nvSpPr>
        <p:spPr>
          <a:xfrm>
            <a:off x="3329815" y="2020088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46"/>
          <p:cNvSpPr/>
          <p:nvPr/>
        </p:nvSpPr>
        <p:spPr>
          <a:xfrm>
            <a:off x="3405412" y="123014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46"/>
          <p:cNvSpPr txBox="1"/>
          <p:nvPr/>
        </p:nvSpPr>
        <p:spPr>
          <a:xfrm>
            <a:off x="3329822" y="777435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6" name="Google Shape;586;p46"/>
          <p:cNvCxnSpPr>
            <a:stCxn id="584" idx="4"/>
            <a:endCxn id="582" idx="1"/>
          </p:cNvCxnSpPr>
          <p:nvPr/>
        </p:nvCxnSpPr>
        <p:spPr>
          <a:xfrm>
            <a:off x="3586012" y="1608441"/>
            <a:ext cx="536100" cy="426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46"/>
          <p:cNvCxnSpPr>
            <a:stCxn id="578" idx="2"/>
            <a:endCxn id="584" idx="6"/>
          </p:cNvCxnSpPr>
          <p:nvPr/>
        </p:nvCxnSpPr>
        <p:spPr>
          <a:xfrm flipH="1">
            <a:off x="3766499" y="1372130"/>
            <a:ext cx="486900" cy="471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46"/>
          <p:cNvCxnSpPr>
            <a:stCxn id="582" idx="0"/>
            <a:endCxn id="578" idx="4"/>
          </p:cNvCxnSpPr>
          <p:nvPr/>
        </p:nvCxnSpPr>
        <p:spPr>
          <a:xfrm flipH="1" rot="10800000">
            <a:off x="4249904" y="1561341"/>
            <a:ext cx="184200" cy="4179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46"/>
          <p:cNvCxnSpPr>
            <a:endCxn id="579" idx="5"/>
          </p:cNvCxnSpPr>
          <p:nvPr/>
        </p:nvCxnSpPr>
        <p:spPr>
          <a:xfrm flipH="1" rot="10800000">
            <a:off x="4383625" y="1491496"/>
            <a:ext cx="568200" cy="552000"/>
          </a:xfrm>
          <a:prstGeom prst="curvedConnector2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46"/>
          <p:cNvCxnSpPr>
            <a:stCxn id="579" idx="3"/>
            <a:endCxn id="582" idx="7"/>
          </p:cNvCxnSpPr>
          <p:nvPr/>
        </p:nvCxnSpPr>
        <p:spPr>
          <a:xfrm flipH="1">
            <a:off x="4377518" y="1491496"/>
            <a:ext cx="318900" cy="5430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1" name="Google Shape;591;p46"/>
          <p:cNvSpPr txBox="1"/>
          <p:nvPr/>
        </p:nvSpPr>
        <p:spPr>
          <a:xfrm>
            <a:off x="3979135" y="1570891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28">
              <a:solidFill>
                <a:srgbClr val="FF0000"/>
              </a:solidFill>
            </a:endParaRPr>
          </a:p>
        </p:txBody>
      </p:sp>
      <p:sp>
        <p:nvSpPr>
          <p:cNvPr id="592" name="Google Shape;592;p46"/>
          <p:cNvSpPr txBox="1"/>
          <p:nvPr/>
        </p:nvSpPr>
        <p:spPr>
          <a:xfrm>
            <a:off x="4924493" y="1745471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28">
              <a:solidFill>
                <a:srgbClr val="FF0000"/>
              </a:solidFill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7168282" y="131423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6007625" y="132706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595" name="Google Shape;595;p46"/>
          <p:cNvSpPr/>
          <p:nvPr/>
        </p:nvSpPr>
        <p:spPr>
          <a:xfrm>
            <a:off x="6254087" y="1417366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46"/>
          <p:cNvSpPr/>
          <p:nvPr/>
        </p:nvSpPr>
        <p:spPr>
          <a:xfrm>
            <a:off x="7414724" y="1404530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97" name="Google Shape;597;p46"/>
          <p:cNvCxnSpPr>
            <a:stCxn id="595" idx="7"/>
            <a:endCxn id="596" idx="1"/>
          </p:cNvCxnSpPr>
          <p:nvPr/>
        </p:nvCxnSpPr>
        <p:spPr>
          <a:xfrm rot="-5400000">
            <a:off x="7008491" y="1013767"/>
            <a:ext cx="12900" cy="905100"/>
          </a:xfrm>
          <a:prstGeom prst="curvedConnector3">
            <a:avLst>
              <a:gd fmla="val 237490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46"/>
          <p:cNvCxnSpPr>
            <a:stCxn id="596" idx="3"/>
            <a:endCxn id="595" idx="5"/>
          </p:cNvCxnSpPr>
          <p:nvPr/>
        </p:nvCxnSpPr>
        <p:spPr>
          <a:xfrm rot="5400000">
            <a:off x="7008621" y="1281329"/>
            <a:ext cx="12900" cy="905100"/>
          </a:xfrm>
          <a:prstGeom prst="curvedConnector3">
            <a:avLst>
              <a:gd fmla="val 237490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46"/>
          <p:cNvSpPr txBox="1"/>
          <p:nvPr/>
        </p:nvSpPr>
        <p:spPr>
          <a:xfrm>
            <a:off x="4408897" y="725831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46"/>
          <p:cNvSpPr txBox="1"/>
          <p:nvPr/>
        </p:nvSpPr>
        <p:spPr>
          <a:xfrm>
            <a:off x="7535972" y="960150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46"/>
          <p:cNvSpPr txBox="1"/>
          <p:nvPr/>
        </p:nvSpPr>
        <p:spPr>
          <a:xfrm>
            <a:off x="6125422" y="956036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46"/>
          <p:cNvSpPr txBox="1"/>
          <p:nvPr/>
        </p:nvSpPr>
        <p:spPr>
          <a:xfrm>
            <a:off x="4571999" y="2198550"/>
            <a:ext cx="42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Shorter cycle resolution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(0.71, 1, 1, 1) 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3" name="Google Shape;603;p46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410892" y="1411674"/>
            <a:ext cx="379617" cy="3796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4" name="Google Shape;604;p46"/>
          <p:cNvGraphicFramePr/>
          <p:nvPr/>
        </p:nvGraphicFramePr>
        <p:xfrm>
          <a:off x="195413" y="87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5725"/>
                <a:gridCol w="563675"/>
                <a:gridCol w="909800"/>
              </a:tblGrid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5" name="Google Shape;605;p46"/>
          <p:cNvGraphicFramePr/>
          <p:nvPr/>
        </p:nvGraphicFramePr>
        <p:xfrm>
          <a:off x="407906" y="2747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78850"/>
                <a:gridCol w="706550"/>
              </a:tblGrid>
              <a:tr h="35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7"/>
          <p:cNvSpPr txBox="1"/>
          <p:nvPr>
            <p:ph idx="1" type="subTitle"/>
          </p:nvPr>
        </p:nvSpPr>
        <p:spPr>
          <a:xfrm>
            <a:off x="407900" y="106225"/>
            <a:ext cx="8378400" cy="510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Invalidation: Counter Example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47"/>
          <p:cNvSpPr/>
          <p:nvPr/>
        </p:nvSpPr>
        <p:spPr>
          <a:xfrm>
            <a:off x="4200397" y="1087190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12" name="Google Shape;612;p47"/>
          <p:cNvSpPr/>
          <p:nvPr/>
        </p:nvSpPr>
        <p:spPr>
          <a:xfrm>
            <a:off x="4253399" y="1182980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47"/>
          <p:cNvSpPr/>
          <p:nvPr/>
        </p:nvSpPr>
        <p:spPr>
          <a:xfrm>
            <a:off x="4643521" y="1168597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47"/>
          <p:cNvSpPr/>
          <p:nvPr/>
        </p:nvSpPr>
        <p:spPr>
          <a:xfrm>
            <a:off x="3159125" y="113981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3823013" y="187564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16" name="Google Shape;616;p47"/>
          <p:cNvSpPr/>
          <p:nvPr/>
        </p:nvSpPr>
        <p:spPr>
          <a:xfrm>
            <a:off x="4069304" y="197924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3329815" y="2020088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3405412" y="123014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3329822" y="777435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0" name="Google Shape;620;p47"/>
          <p:cNvCxnSpPr>
            <a:stCxn id="618" idx="4"/>
            <a:endCxn id="616" idx="1"/>
          </p:cNvCxnSpPr>
          <p:nvPr/>
        </p:nvCxnSpPr>
        <p:spPr>
          <a:xfrm>
            <a:off x="3586012" y="1608441"/>
            <a:ext cx="536100" cy="426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47"/>
          <p:cNvCxnSpPr>
            <a:stCxn id="612" idx="2"/>
            <a:endCxn id="618" idx="6"/>
          </p:cNvCxnSpPr>
          <p:nvPr/>
        </p:nvCxnSpPr>
        <p:spPr>
          <a:xfrm flipH="1">
            <a:off x="3766499" y="1372130"/>
            <a:ext cx="486900" cy="471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47"/>
          <p:cNvCxnSpPr>
            <a:stCxn id="616" idx="0"/>
            <a:endCxn id="612" idx="4"/>
          </p:cNvCxnSpPr>
          <p:nvPr/>
        </p:nvCxnSpPr>
        <p:spPr>
          <a:xfrm flipH="1" rot="10800000">
            <a:off x="4249904" y="1561341"/>
            <a:ext cx="184200" cy="4179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47"/>
          <p:cNvCxnSpPr>
            <a:endCxn id="613" idx="5"/>
          </p:cNvCxnSpPr>
          <p:nvPr/>
        </p:nvCxnSpPr>
        <p:spPr>
          <a:xfrm flipH="1" rot="10800000">
            <a:off x="4383625" y="1491496"/>
            <a:ext cx="568200" cy="552000"/>
          </a:xfrm>
          <a:prstGeom prst="curvedConnector2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47"/>
          <p:cNvCxnSpPr>
            <a:stCxn id="613" idx="3"/>
            <a:endCxn id="616" idx="7"/>
          </p:cNvCxnSpPr>
          <p:nvPr/>
        </p:nvCxnSpPr>
        <p:spPr>
          <a:xfrm flipH="1">
            <a:off x="4377518" y="1491496"/>
            <a:ext cx="318900" cy="5430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47"/>
          <p:cNvSpPr txBox="1"/>
          <p:nvPr/>
        </p:nvSpPr>
        <p:spPr>
          <a:xfrm>
            <a:off x="3979135" y="1570891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28">
              <a:solidFill>
                <a:srgbClr val="FF0000"/>
              </a:solidFill>
            </a:endParaRPr>
          </a:p>
        </p:txBody>
      </p:sp>
      <p:sp>
        <p:nvSpPr>
          <p:cNvPr id="626" name="Google Shape;626;p47"/>
          <p:cNvSpPr txBox="1"/>
          <p:nvPr/>
        </p:nvSpPr>
        <p:spPr>
          <a:xfrm>
            <a:off x="4894762" y="1745471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0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28">
              <a:solidFill>
                <a:srgbClr val="FF0000"/>
              </a:solidFill>
            </a:endParaRPr>
          </a:p>
        </p:txBody>
      </p:sp>
      <p:sp>
        <p:nvSpPr>
          <p:cNvPr id="627" name="Google Shape;627;p47"/>
          <p:cNvSpPr/>
          <p:nvPr/>
        </p:nvSpPr>
        <p:spPr>
          <a:xfrm>
            <a:off x="7168282" y="131423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28" name="Google Shape;628;p47"/>
          <p:cNvSpPr/>
          <p:nvPr/>
        </p:nvSpPr>
        <p:spPr>
          <a:xfrm>
            <a:off x="6007625" y="132706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29" name="Google Shape;629;p47"/>
          <p:cNvSpPr/>
          <p:nvPr/>
        </p:nvSpPr>
        <p:spPr>
          <a:xfrm>
            <a:off x="6254087" y="1417366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47"/>
          <p:cNvSpPr/>
          <p:nvPr/>
        </p:nvSpPr>
        <p:spPr>
          <a:xfrm>
            <a:off x="7414724" y="1404530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1" name="Google Shape;631;p47"/>
          <p:cNvCxnSpPr>
            <a:stCxn id="629" idx="7"/>
            <a:endCxn id="630" idx="1"/>
          </p:cNvCxnSpPr>
          <p:nvPr/>
        </p:nvCxnSpPr>
        <p:spPr>
          <a:xfrm rot="-5400000">
            <a:off x="7008491" y="1013767"/>
            <a:ext cx="12900" cy="905100"/>
          </a:xfrm>
          <a:prstGeom prst="curvedConnector3">
            <a:avLst>
              <a:gd fmla="val 237490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47"/>
          <p:cNvCxnSpPr>
            <a:stCxn id="630" idx="3"/>
            <a:endCxn id="629" idx="5"/>
          </p:cNvCxnSpPr>
          <p:nvPr/>
        </p:nvCxnSpPr>
        <p:spPr>
          <a:xfrm rot="5400000">
            <a:off x="7008621" y="1281329"/>
            <a:ext cx="12900" cy="905100"/>
          </a:xfrm>
          <a:prstGeom prst="curvedConnector3">
            <a:avLst>
              <a:gd fmla="val 2374901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47"/>
          <p:cNvSpPr txBox="1"/>
          <p:nvPr/>
        </p:nvSpPr>
        <p:spPr>
          <a:xfrm>
            <a:off x="4408897" y="725831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47"/>
          <p:cNvSpPr txBox="1"/>
          <p:nvPr/>
        </p:nvSpPr>
        <p:spPr>
          <a:xfrm>
            <a:off x="7535972" y="960150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47"/>
          <p:cNvSpPr txBox="1"/>
          <p:nvPr/>
        </p:nvSpPr>
        <p:spPr>
          <a:xfrm>
            <a:off x="6125422" y="956036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47"/>
          <p:cNvSpPr txBox="1"/>
          <p:nvPr/>
        </p:nvSpPr>
        <p:spPr>
          <a:xfrm>
            <a:off x="4571999" y="2198550"/>
            <a:ext cx="421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Shorter cycle resolution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(0.71, 1, 1, 1) 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47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410892" y="1411674"/>
            <a:ext cx="379617" cy="3796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8" name="Google Shape;638;p47"/>
          <p:cNvGraphicFramePr/>
          <p:nvPr/>
        </p:nvGraphicFramePr>
        <p:xfrm>
          <a:off x="195413" y="87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5725"/>
                <a:gridCol w="563675"/>
                <a:gridCol w="909800"/>
              </a:tblGrid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1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9" name="Google Shape;639;p47"/>
          <p:cNvGraphicFramePr/>
          <p:nvPr/>
        </p:nvGraphicFramePr>
        <p:xfrm>
          <a:off x="407906" y="2747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778850"/>
                <a:gridCol w="706550"/>
              </a:tblGrid>
              <a:tr h="35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0" name="Google Shape;640;p47"/>
          <p:cNvSpPr/>
          <p:nvPr/>
        </p:nvSpPr>
        <p:spPr>
          <a:xfrm>
            <a:off x="4200397" y="3099040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4253399" y="3194830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4643521" y="3180447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3159125" y="315166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3823013" y="388749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45" name="Google Shape;645;p47"/>
          <p:cNvSpPr/>
          <p:nvPr/>
        </p:nvSpPr>
        <p:spPr>
          <a:xfrm>
            <a:off x="4069304" y="399109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3329815" y="4031938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47"/>
          <p:cNvSpPr/>
          <p:nvPr/>
        </p:nvSpPr>
        <p:spPr>
          <a:xfrm>
            <a:off x="3405412" y="3241991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47"/>
          <p:cNvSpPr txBox="1"/>
          <p:nvPr/>
        </p:nvSpPr>
        <p:spPr>
          <a:xfrm>
            <a:off x="3329822" y="2749490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9" name="Google Shape;649;p47"/>
          <p:cNvCxnSpPr>
            <a:stCxn id="647" idx="4"/>
            <a:endCxn id="645" idx="1"/>
          </p:cNvCxnSpPr>
          <p:nvPr/>
        </p:nvCxnSpPr>
        <p:spPr>
          <a:xfrm>
            <a:off x="3586012" y="3620291"/>
            <a:ext cx="536100" cy="426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47"/>
          <p:cNvCxnSpPr>
            <a:stCxn id="641" idx="2"/>
            <a:endCxn id="647" idx="6"/>
          </p:cNvCxnSpPr>
          <p:nvPr/>
        </p:nvCxnSpPr>
        <p:spPr>
          <a:xfrm flipH="1">
            <a:off x="3766499" y="3383980"/>
            <a:ext cx="486900" cy="471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47"/>
          <p:cNvCxnSpPr>
            <a:stCxn id="645" idx="0"/>
            <a:endCxn id="641" idx="4"/>
          </p:cNvCxnSpPr>
          <p:nvPr/>
        </p:nvCxnSpPr>
        <p:spPr>
          <a:xfrm flipH="1" rot="10800000">
            <a:off x="4249904" y="3573191"/>
            <a:ext cx="184200" cy="4179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47"/>
          <p:cNvCxnSpPr>
            <a:endCxn id="642" idx="5"/>
          </p:cNvCxnSpPr>
          <p:nvPr/>
        </p:nvCxnSpPr>
        <p:spPr>
          <a:xfrm flipH="1" rot="10800000">
            <a:off x="4383625" y="3503346"/>
            <a:ext cx="568200" cy="552000"/>
          </a:xfrm>
          <a:prstGeom prst="curvedConnector2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47"/>
          <p:cNvCxnSpPr>
            <a:stCxn id="642" idx="3"/>
            <a:endCxn id="645" idx="7"/>
          </p:cNvCxnSpPr>
          <p:nvPr/>
        </p:nvCxnSpPr>
        <p:spPr>
          <a:xfrm flipH="1">
            <a:off x="4377518" y="3503346"/>
            <a:ext cx="318900" cy="5430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4" name="Google Shape;654;p47"/>
          <p:cNvSpPr txBox="1"/>
          <p:nvPr/>
        </p:nvSpPr>
        <p:spPr>
          <a:xfrm>
            <a:off x="3979135" y="3562844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0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28">
              <a:solidFill>
                <a:srgbClr val="FF0000"/>
              </a:solidFill>
            </a:endParaRPr>
          </a:p>
        </p:txBody>
      </p:sp>
      <p:sp>
        <p:nvSpPr>
          <p:cNvPr id="655" name="Google Shape;655;p47"/>
          <p:cNvSpPr txBox="1"/>
          <p:nvPr/>
        </p:nvSpPr>
        <p:spPr>
          <a:xfrm>
            <a:off x="4894762" y="3757321"/>
            <a:ext cx="280800" cy="27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52"/>
              </a:spcAft>
              <a:buNone/>
            </a:pP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203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28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47"/>
          <p:cNvSpPr/>
          <p:nvPr/>
        </p:nvSpPr>
        <p:spPr>
          <a:xfrm>
            <a:off x="6007625" y="3338915"/>
            <a:ext cx="854100" cy="55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657" name="Google Shape;657;p47"/>
          <p:cNvSpPr/>
          <p:nvPr/>
        </p:nvSpPr>
        <p:spPr>
          <a:xfrm>
            <a:off x="6254087" y="3429216"/>
            <a:ext cx="361200" cy="378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77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47"/>
          <p:cNvSpPr txBox="1"/>
          <p:nvPr/>
        </p:nvSpPr>
        <p:spPr>
          <a:xfrm>
            <a:off x="4408897" y="2737681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47"/>
          <p:cNvSpPr txBox="1"/>
          <p:nvPr/>
        </p:nvSpPr>
        <p:spPr>
          <a:xfrm>
            <a:off x="4525099" y="4127000"/>
            <a:ext cx="43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A: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Longer cycle resolution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(1, 1, 1, 0)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0" name="Google Shape;660;p47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416651" y="3428574"/>
            <a:ext cx="379617" cy="3796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1" name="Google Shape;661;p47"/>
          <p:cNvCxnSpPr>
            <a:stCxn id="657" idx="1"/>
            <a:endCxn id="657" idx="7"/>
          </p:cNvCxnSpPr>
          <p:nvPr/>
        </p:nvCxnSpPr>
        <p:spPr>
          <a:xfrm flipH="1" rot="-5400000">
            <a:off x="6434334" y="3357267"/>
            <a:ext cx="600" cy="255300"/>
          </a:xfrm>
          <a:prstGeom prst="curvedConnector3">
            <a:avLst>
              <a:gd fmla="val -48920959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2" name="Google Shape;662;p47"/>
          <p:cNvSpPr txBox="1"/>
          <p:nvPr/>
        </p:nvSpPr>
        <p:spPr>
          <a:xfrm>
            <a:off x="6216072" y="2809676"/>
            <a:ext cx="437100" cy="33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300" lIns="57300" spcFirstLastPara="1" rIns="57300" wrap="square" tIns="57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8"/>
          <p:cNvSpPr txBox="1"/>
          <p:nvPr/>
        </p:nvSpPr>
        <p:spPr>
          <a:xfrm>
            <a:off x="1512199" y="80375"/>
            <a:ext cx="62577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Heuristic: Which cycle to resolve First?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48"/>
          <p:cNvSpPr/>
          <p:nvPr/>
        </p:nvSpPr>
        <p:spPr>
          <a:xfrm>
            <a:off x="2278003" y="1372414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669" name="Google Shape;669;p48"/>
          <p:cNvSpPr/>
          <p:nvPr/>
        </p:nvSpPr>
        <p:spPr>
          <a:xfrm>
            <a:off x="2376824" y="1551011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48"/>
          <p:cNvSpPr/>
          <p:nvPr/>
        </p:nvSpPr>
        <p:spPr>
          <a:xfrm>
            <a:off x="3104189" y="1524195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48"/>
          <p:cNvSpPr/>
          <p:nvPr/>
        </p:nvSpPr>
        <p:spPr>
          <a:xfrm>
            <a:off x="336601" y="1470532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1574390" y="2842465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2639899" y="845650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48"/>
          <p:cNvSpPr/>
          <p:nvPr/>
        </p:nvSpPr>
        <p:spPr>
          <a:xfrm>
            <a:off x="2033588" y="3035617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48"/>
          <p:cNvSpPr txBox="1"/>
          <p:nvPr/>
        </p:nvSpPr>
        <p:spPr>
          <a:xfrm>
            <a:off x="2033561" y="3948036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48"/>
          <p:cNvSpPr/>
          <p:nvPr/>
        </p:nvSpPr>
        <p:spPr>
          <a:xfrm>
            <a:off x="795792" y="1638942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48"/>
          <p:cNvSpPr txBox="1"/>
          <p:nvPr/>
        </p:nvSpPr>
        <p:spPr>
          <a:xfrm>
            <a:off x="654857" y="943278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8" name="Google Shape;678;p48"/>
          <p:cNvCxnSpPr>
            <a:stCxn id="676" idx="4"/>
            <a:endCxn id="674" idx="1"/>
          </p:cNvCxnSpPr>
          <p:nvPr/>
        </p:nvCxnSpPr>
        <p:spPr>
          <a:xfrm>
            <a:off x="1132692" y="2344242"/>
            <a:ext cx="999600" cy="794700"/>
          </a:xfrm>
          <a:prstGeom prst="straightConnector1">
            <a:avLst/>
          </a:prstGeom>
          <a:noFill/>
          <a:ln cap="flat" cmpd="sng" w="22250">
            <a:solidFill>
              <a:srgbClr val="5B0F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48"/>
          <p:cNvCxnSpPr>
            <a:stCxn id="669" idx="2"/>
            <a:endCxn id="676" idx="6"/>
          </p:cNvCxnSpPr>
          <p:nvPr/>
        </p:nvCxnSpPr>
        <p:spPr>
          <a:xfrm flipH="1">
            <a:off x="1469624" y="1903661"/>
            <a:ext cx="907200" cy="87900"/>
          </a:xfrm>
          <a:prstGeom prst="straightConnector1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48"/>
          <p:cNvCxnSpPr>
            <a:stCxn id="674" idx="0"/>
            <a:endCxn id="669" idx="4"/>
          </p:cNvCxnSpPr>
          <p:nvPr/>
        </p:nvCxnSpPr>
        <p:spPr>
          <a:xfrm flipH="1" rot="10800000">
            <a:off x="2370488" y="2256217"/>
            <a:ext cx="343200" cy="779400"/>
          </a:xfrm>
          <a:prstGeom prst="straightConnector1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48"/>
          <p:cNvCxnSpPr>
            <a:endCxn id="670" idx="5"/>
          </p:cNvCxnSpPr>
          <p:nvPr/>
        </p:nvCxnSpPr>
        <p:spPr>
          <a:xfrm flipH="1" rot="10800000">
            <a:off x="2620013" y="2126206"/>
            <a:ext cx="1059300" cy="1029000"/>
          </a:xfrm>
          <a:prstGeom prst="curvedConnector2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48"/>
          <p:cNvCxnSpPr>
            <a:stCxn id="670" idx="3"/>
            <a:endCxn id="674" idx="7"/>
          </p:cNvCxnSpPr>
          <p:nvPr/>
        </p:nvCxnSpPr>
        <p:spPr>
          <a:xfrm flipH="1">
            <a:off x="2608564" y="2126206"/>
            <a:ext cx="594300" cy="1012800"/>
          </a:xfrm>
          <a:prstGeom prst="straightConnector1">
            <a:avLst/>
          </a:prstGeom>
          <a:noFill/>
          <a:ln cap="flat" cmpd="sng" w="22250">
            <a:solidFill>
              <a:srgbClr val="5B0F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83" name="Google Shape;683;p48"/>
          <p:cNvSpPr txBox="1"/>
          <p:nvPr/>
        </p:nvSpPr>
        <p:spPr>
          <a:xfrm>
            <a:off x="1865471" y="2274261"/>
            <a:ext cx="52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3">
              <a:solidFill>
                <a:srgbClr val="FF0000"/>
              </a:solidFill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2775899" y="2554239"/>
            <a:ext cx="52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3">
              <a:solidFill>
                <a:srgbClr val="FF0000"/>
              </a:solidFill>
            </a:endParaRPr>
          </a:p>
        </p:txBody>
      </p:sp>
      <p:sp>
        <p:nvSpPr>
          <p:cNvPr id="685" name="Google Shape;685;p48"/>
          <p:cNvSpPr txBox="1"/>
          <p:nvPr/>
        </p:nvSpPr>
        <p:spPr>
          <a:xfrm>
            <a:off x="4634000" y="943275"/>
            <a:ext cx="41358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overlapping vertex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same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who get impacted the most?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predecessor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agents are resolved in a later rounds of TTC, reducing their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satisfaction reduction is captured as satisfaction loss (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 cycles that has a higher (δ), therefore maximizing the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48"/>
          <p:cNvSpPr txBox="1"/>
          <p:nvPr/>
        </p:nvSpPr>
        <p:spPr>
          <a:xfrm>
            <a:off x="665755" y="2574115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48"/>
          <p:cNvSpPr txBox="1"/>
          <p:nvPr/>
        </p:nvSpPr>
        <p:spPr>
          <a:xfrm>
            <a:off x="2617137" y="2315159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9"/>
          <p:cNvSpPr/>
          <p:nvPr/>
        </p:nvSpPr>
        <p:spPr>
          <a:xfrm>
            <a:off x="7383875" y="2762527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</p:txBody>
      </p:sp>
      <p:sp>
        <p:nvSpPr>
          <p:cNvPr id="693" name="Google Shape;693;p49"/>
          <p:cNvSpPr/>
          <p:nvPr/>
        </p:nvSpPr>
        <p:spPr>
          <a:xfrm>
            <a:off x="5670075" y="2783702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</p:txBody>
      </p:sp>
      <p:sp>
        <p:nvSpPr>
          <p:cNvPr id="694" name="Google Shape;694;p49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ReACT-TTC Based Modified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49"/>
          <p:cNvSpPr txBox="1"/>
          <p:nvPr/>
        </p:nvSpPr>
        <p:spPr>
          <a:xfrm>
            <a:off x="79825" y="678900"/>
            <a:ext cx="411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B:  The case of </a:t>
            </a:r>
            <a:r>
              <a:rPr b="1" lang="en" sz="15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1" lang="en" sz="15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ownership.</a:t>
            </a:r>
            <a:endParaRPr b="1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6" name="Google Shape;696;p49"/>
          <p:cNvGraphicFramePr/>
          <p:nvPr/>
        </p:nvGraphicFramePr>
        <p:xfrm>
          <a:off x="254300" y="122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841975"/>
                <a:gridCol w="744500"/>
                <a:gridCol w="1378100"/>
              </a:tblGrid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7" name="Google Shape;697;p49"/>
          <p:cNvGraphicFramePr/>
          <p:nvPr/>
        </p:nvGraphicFramePr>
        <p:xfrm>
          <a:off x="3372478" y="122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62225"/>
                <a:gridCol w="660825"/>
              </a:tblGrid>
              <a:tr h="41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1B1B1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1B1B1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8" name="Google Shape;698;p49"/>
          <p:cNvSpPr/>
          <p:nvPr/>
        </p:nvSpPr>
        <p:spPr>
          <a:xfrm>
            <a:off x="7271175" y="1171075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</p:txBody>
      </p:sp>
      <p:sp>
        <p:nvSpPr>
          <p:cNvPr id="699" name="Google Shape;699;p49"/>
          <p:cNvSpPr/>
          <p:nvPr/>
        </p:nvSpPr>
        <p:spPr>
          <a:xfrm>
            <a:off x="7355753" y="1323931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9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7978287" y="1300980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9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5609575" y="1209127"/>
            <a:ext cx="1362600" cy="891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rgbClr val="000000"/>
              </a:solidFill>
            </a:endParaRPr>
          </a:p>
        </p:txBody>
      </p:sp>
      <p:sp>
        <p:nvSpPr>
          <p:cNvPr id="702" name="Google Shape;702;p49"/>
          <p:cNvSpPr txBox="1"/>
          <p:nvPr/>
        </p:nvSpPr>
        <p:spPr>
          <a:xfrm>
            <a:off x="7575242" y="699676"/>
            <a:ext cx="6972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6051661" y="2927839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9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49"/>
          <p:cNvSpPr txBox="1"/>
          <p:nvPr/>
        </p:nvSpPr>
        <p:spPr>
          <a:xfrm>
            <a:off x="6041689" y="3698803"/>
            <a:ext cx="6972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49"/>
          <p:cNvSpPr/>
          <p:nvPr/>
        </p:nvSpPr>
        <p:spPr>
          <a:xfrm>
            <a:off x="6284328" y="1330339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9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49"/>
          <p:cNvSpPr txBox="1"/>
          <p:nvPr/>
        </p:nvSpPr>
        <p:spPr>
          <a:xfrm>
            <a:off x="5943188" y="757865"/>
            <a:ext cx="6972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49"/>
          <p:cNvSpPr txBox="1"/>
          <p:nvPr/>
        </p:nvSpPr>
        <p:spPr>
          <a:xfrm>
            <a:off x="7784170" y="3688942"/>
            <a:ext cx="6972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49"/>
          <p:cNvSpPr/>
          <p:nvPr/>
        </p:nvSpPr>
        <p:spPr>
          <a:xfrm>
            <a:off x="7776871" y="290666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9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49"/>
          <p:cNvSpPr/>
          <p:nvPr/>
        </p:nvSpPr>
        <p:spPr>
          <a:xfrm>
            <a:off x="5685465" y="1340267"/>
            <a:ext cx="576600" cy="6036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710" name="Google Shape;710;p49"/>
          <p:cNvSpPr txBox="1"/>
          <p:nvPr/>
        </p:nvSpPr>
        <p:spPr>
          <a:xfrm>
            <a:off x="198200" y="4168400"/>
            <a:ext cx="88896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resource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capacity of two, and has only one owner, i.e.,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 agents like 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point to both, however as the unowned resource has no preference it does not point to any agent and hence it does not form cycles.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0"/>
          <p:cNvSpPr/>
          <p:nvPr/>
        </p:nvSpPr>
        <p:spPr>
          <a:xfrm>
            <a:off x="4364893" y="1342533"/>
            <a:ext cx="1117800" cy="731700"/>
          </a:xfrm>
          <a:prstGeom prst="ellipse">
            <a:avLst/>
          </a:prstGeom>
          <a:solidFill>
            <a:schemeClr val="lt2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48">
              <a:solidFill>
                <a:srgbClr val="000000"/>
              </a:solidFill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4434271" y="1467919"/>
            <a:ext cx="472800" cy="495000"/>
          </a:xfrm>
          <a:prstGeom prst="ellipse">
            <a:avLst/>
          </a:prstGeom>
          <a:solidFill>
            <a:srgbClr val="CFE2F3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4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50"/>
          <p:cNvSpPr/>
          <p:nvPr/>
        </p:nvSpPr>
        <p:spPr>
          <a:xfrm>
            <a:off x="4944930" y="1449093"/>
            <a:ext cx="472800" cy="495000"/>
          </a:xfrm>
          <a:prstGeom prst="ellipse">
            <a:avLst/>
          </a:prstGeom>
          <a:solidFill>
            <a:srgbClr val="CFE2F3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7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4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50"/>
          <p:cNvSpPr/>
          <p:nvPr/>
        </p:nvSpPr>
        <p:spPr>
          <a:xfrm>
            <a:off x="3001900" y="1373747"/>
            <a:ext cx="1117800" cy="731700"/>
          </a:xfrm>
          <a:prstGeom prst="ellipse">
            <a:avLst/>
          </a:prstGeom>
          <a:solidFill>
            <a:schemeClr val="lt2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48">
              <a:solidFill>
                <a:srgbClr val="000000"/>
              </a:solidFill>
            </a:endParaRPr>
          </a:p>
        </p:txBody>
      </p:sp>
      <p:sp>
        <p:nvSpPr>
          <p:cNvPr id="719" name="Google Shape;719;p50"/>
          <p:cNvSpPr/>
          <p:nvPr/>
        </p:nvSpPr>
        <p:spPr>
          <a:xfrm>
            <a:off x="3042151" y="2639239"/>
            <a:ext cx="1117800" cy="731700"/>
          </a:xfrm>
          <a:prstGeom prst="ellipse">
            <a:avLst/>
          </a:prstGeom>
          <a:solidFill>
            <a:schemeClr val="lt2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48">
              <a:solidFill>
                <a:srgbClr val="000000"/>
              </a:solidFill>
            </a:endParaRPr>
          </a:p>
        </p:txBody>
      </p:sp>
      <p:sp>
        <p:nvSpPr>
          <p:cNvPr id="720" name="Google Shape;720;p50"/>
          <p:cNvSpPr txBox="1"/>
          <p:nvPr/>
        </p:nvSpPr>
        <p:spPr>
          <a:xfrm>
            <a:off x="4895405" y="949025"/>
            <a:ext cx="57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1" name="Google Shape;721;p50"/>
          <p:cNvSpPr/>
          <p:nvPr/>
        </p:nvSpPr>
        <p:spPr>
          <a:xfrm>
            <a:off x="3364538" y="2756008"/>
            <a:ext cx="472800" cy="495000"/>
          </a:xfrm>
          <a:prstGeom prst="ellipse">
            <a:avLst/>
          </a:prstGeom>
          <a:solidFill>
            <a:srgbClr val="CFE2F3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7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4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50"/>
          <p:cNvSpPr txBox="1"/>
          <p:nvPr/>
        </p:nvSpPr>
        <p:spPr>
          <a:xfrm>
            <a:off x="3364520" y="3396584"/>
            <a:ext cx="57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3555393" y="1473176"/>
            <a:ext cx="472800" cy="495000"/>
          </a:xfrm>
          <a:prstGeom prst="ellipse">
            <a:avLst/>
          </a:prstGeom>
          <a:solidFill>
            <a:srgbClr val="CFE2F3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4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50"/>
          <p:cNvSpPr txBox="1"/>
          <p:nvPr/>
        </p:nvSpPr>
        <p:spPr>
          <a:xfrm>
            <a:off x="3103490" y="989101"/>
            <a:ext cx="57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50"/>
          <p:cNvSpPr/>
          <p:nvPr/>
        </p:nvSpPr>
        <p:spPr>
          <a:xfrm>
            <a:off x="4434269" y="2620404"/>
            <a:ext cx="1117800" cy="731700"/>
          </a:xfrm>
          <a:prstGeom prst="ellipse">
            <a:avLst/>
          </a:prstGeom>
          <a:solidFill>
            <a:schemeClr val="lt2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48">
              <a:solidFill>
                <a:srgbClr val="000000"/>
              </a:solidFill>
            </a:endParaRPr>
          </a:p>
        </p:txBody>
      </p:sp>
      <p:sp>
        <p:nvSpPr>
          <p:cNvPr id="726" name="Google Shape;726;p50"/>
          <p:cNvSpPr txBox="1"/>
          <p:nvPr/>
        </p:nvSpPr>
        <p:spPr>
          <a:xfrm>
            <a:off x="4793858" y="3380334"/>
            <a:ext cx="5718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975" lIns="74975" spcFirstLastPara="1" rIns="74975" wrap="square" tIns="74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4779710" y="2738639"/>
            <a:ext cx="472800" cy="495000"/>
          </a:xfrm>
          <a:prstGeom prst="ellipse">
            <a:avLst/>
          </a:prstGeom>
          <a:solidFill>
            <a:srgbClr val="CFE2F3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7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44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8" name="Google Shape;728;p50"/>
          <p:cNvCxnSpPr>
            <a:stCxn id="723" idx="6"/>
            <a:endCxn id="716" idx="2"/>
          </p:cNvCxnSpPr>
          <p:nvPr/>
        </p:nvCxnSpPr>
        <p:spPr>
          <a:xfrm flipH="1" rot="10800000">
            <a:off x="4028193" y="1715276"/>
            <a:ext cx="406200" cy="5400"/>
          </a:xfrm>
          <a:prstGeom prst="straightConnector1">
            <a:avLst/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9" name="Google Shape;729;p50"/>
          <p:cNvSpPr/>
          <p:nvPr/>
        </p:nvSpPr>
        <p:spPr>
          <a:xfrm>
            <a:off x="3064152" y="1473159"/>
            <a:ext cx="472800" cy="495000"/>
          </a:xfrm>
          <a:prstGeom prst="ellipse">
            <a:avLst/>
          </a:prstGeom>
          <a:solidFill>
            <a:srgbClr val="FF0000"/>
          </a:solidFill>
          <a:ln cap="flat" cmpd="sng" w="156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48">
              <a:solidFill>
                <a:srgbClr val="0000FF"/>
              </a:solidFill>
            </a:endParaRPr>
          </a:p>
        </p:txBody>
      </p:sp>
      <p:cxnSp>
        <p:nvCxnSpPr>
          <p:cNvPr id="730" name="Google Shape;730;p50"/>
          <p:cNvCxnSpPr>
            <a:stCxn id="716" idx="3"/>
            <a:endCxn id="723" idx="5"/>
          </p:cNvCxnSpPr>
          <p:nvPr/>
        </p:nvCxnSpPr>
        <p:spPr>
          <a:xfrm rot="5400000">
            <a:off x="4228561" y="1620878"/>
            <a:ext cx="5400" cy="544500"/>
          </a:xfrm>
          <a:prstGeom prst="curvedConnector3">
            <a:avLst>
              <a:gd fmla="val 5439707" name="adj1"/>
            </a:avLst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1" name="Google Shape;731;p50"/>
          <p:cNvCxnSpPr>
            <a:stCxn id="721" idx="0"/>
            <a:endCxn id="729" idx="4"/>
          </p:cNvCxnSpPr>
          <p:nvPr/>
        </p:nvCxnSpPr>
        <p:spPr>
          <a:xfrm rot="10800000">
            <a:off x="3300638" y="1968208"/>
            <a:ext cx="300300" cy="787800"/>
          </a:xfrm>
          <a:prstGeom prst="straightConnector1">
            <a:avLst/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50"/>
          <p:cNvCxnSpPr>
            <a:stCxn id="721" idx="0"/>
            <a:endCxn id="723" idx="4"/>
          </p:cNvCxnSpPr>
          <p:nvPr/>
        </p:nvCxnSpPr>
        <p:spPr>
          <a:xfrm flipH="1" rot="10800000">
            <a:off x="3600938" y="1968208"/>
            <a:ext cx="190800" cy="787800"/>
          </a:xfrm>
          <a:prstGeom prst="straightConnector1">
            <a:avLst/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50"/>
          <p:cNvCxnSpPr>
            <a:stCxn id="717" idx="4"/>
            <a:endCxn id="727" idx="0"/>
          </p:cNvCxnSpPr>
          <p:nvPr/>
        </p:nvCxnSpPr>
        <p:spPr>
          <a:xfrm flipH="1">
            <a:off x="5016030" y="1944093"/>
            <a:ext cx="165300" cy="794400"/>
          </a:xfrm>
          <a:prstGeom prst="straightConnector1">
            <a:avLst/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4" name="Google Shape;734;p50"/>
          <p:cNvCxnSpPr>
            <a:stCxn id="727" idx="2"/>
            <a:endCxn id="721" idx="6"/>
          </p:cNvCxnSpPr>
          <p:nvPr/>
        </p:nvCxnSpPr>
        <p:spPr>
          <a:xfrm flipH="1">
            <a:off x="3837410" y="2986139"/>
            <a:ext cx="942300" cy="17400"/>
          </a:xfrm>
          <a:prstGeom prst="straightConnector1">
            <a:avLst/>
          </a:prstGeom>
          <a:noFill/>
          <a:ln cap="flat" cmpd="sng" w="156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5" name="Google Shape;735;p50"/>
          <p:cNvSpPr txBox="1"/>
          <p:nvPr/>
        </p:nvSpPr>
        <p:spPr>
          <a:xfrm>
            <a:off x="4105595" y="1890509"/>
            <a:ext cx="261600" cy="214800"/>
          </a:xfrm>
          <a:prstGeom prst="rect">
            <a:avLst/>
          </a:prstGeom>
          <a:noFill/>
          <a:ln cap="flat" cmpd="sng" w="13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325" lIns="40325" spcFirstLastPara="1" rIns="40325" wrap="square" tIns="40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29"/>
              </a:spcAft>
              <a:buNone/>
            </a:pPr>
            <a:r>
              <a:rPr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17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6" name="Google Shape;736;p50"/>
          <p:cNvCxnSpPr>
            <a:stCxn id="723" idx="0"/>
            <a:endCxn id="717" idx="0"/>
          </p:cNvCxnSpPr>
          <p:nvPr/>
        </p:nvCxnSpPr>
        <p:spPr>
          <a:xfrm rot="-5400000">
            <a:off x="4474593" y="766376"/>
            <a:ext cx="24000" cy="1389600"/>
          </a:xfrm>
          <a:prstGeom prst="curvedConnector3">
            <a:avLst>
              <a:gd fmla="val 1407579" name="adj1"/>
            </a:avLst>
          </a:prstGeom>
          <a:noFill/>
          <a:ln cap="flat" cmpd="sng" w="134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7" name="Google Shape;737;p50"/>
          <p:cNvCxnSpPr>
            <a:stCxn id="716" idx="5"/>
            <a:endCxn id="729" idx="5"/>
          </p:cNvCxnSpPr>
          <p:nvPr/>
        </p:nvCxnSpPr>
        <p:spPr>
          <a:xfrm rot="5400000">
            <a:off x="4150231" y="1207928"/>
            <a:ext cx="5100" cy="1370100"/>
          </a:xfrm>
          <a:prstGeom prst="curvedConnector3">
            <a:avLst>
              <a:gd fmla="val 10878373" name="adj1"/>
            </a:avLst>
          </a:prstGeom>
          <a:noFill/>
          <a:ln cap="flat" cmpd="sng" w="1340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8" name="Google Shape;738;p50"/>
          <p:cNvSpPr txBox="1"/>
          <p:nvPr/>
        </p:nvSpPr>
        <p:spPr>
          <a:xfrm>
            <a:off x="4154884" y="2631879"/>
            <a:ext cx="261600" cy="214800"/>
          </a:xfrm>
          <a:prstGeom prst="rect">
            <a:avLst/>
          </a:prstGeom>
          <a:noFill/>
          <a:ln cap="flat" cmpd="sng" w="13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325" lIns="40325" spcFirstLastPara="1" rIns="40325" wrap="square" tIns="403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29"/>
              </a:spcAft>
              <a:buNone/>
            </a:pPr>
            <a:r>
              <a:rPr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41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17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50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ReACT-TTC Based Modified TTC: Resolving Chains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0" name="Google Shape;740;p50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958517" y="1921401"/>
            <a:ext cx="283066" cy="640131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0"/>
          <p:cNvSpPr txBox="1"/>
          <p:nvPr/>
        </p:nvSpPr>
        <p:spPr>
          <a:xfrm>
            <a:off x="5642651" y="1808534"/>
            <a:ext cx="1029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4350" lIns="64350" spcFirstLastPara="1" rIns="64350" wrap="square" tIns="6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</a:t>
            </a:r>
            <a:r>
              <a:rPr lang="en" sz="1056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98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987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56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50"/>
          <p:cNvSpPr/>
          <p:nvPr/>
        </p:nvSpPr>
        <p:spPr>
          <a:xfrm>
            <a:off x="7821911" y="1353090"/>
            <a:ext cx="1086000" cy="710700"/>
          </a:xfrm>
          <a:prstGeom prst="ellipse">
            <a:avLst/>
          </a:prstGeom>
          <a:solidFill>
            <a:srgbClr val="F8FAFD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6">
              <a:solidFill>
                <a:srgbClr val="000000"/>
              </a:solidFill>
            </a:endParaRPr>
          </a:p>
        </p:txBody>
      </p:sp>
      <p:sp>
        <p:nvSpPr>
          <p:cNvPr id="743" name="Google Shape;743;p50"/>
          <p:cNvSpPr/>
          <p:nvPr/>
        </p:nvSpPr>
        <p:spPr>
          <a:xfrm>
            <a:off x="8192614" y="1471463"/>
            <a:ext cx="459600" cy="481200"/>
          </a:xfrm>
          <a:prstGeom prst="ellipse">
            <a:avLst/>
          </a:prstGeom>
          <a:solidFill>
            <a:srgbClr val="CFE2F3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89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8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50"/>
          <p:cNvSpPr/>
          <p:nvPr/>
        </p:nvSpPr>
        <p:spPr>
          <a:xfrm>
            <a:off x="6497601" y="1383418"/>
            <a:ext cx="1086000" cy="710700"/>
          </a:xfrm>
          <a:prstGeom prst="ellipse">
            <a:avLst/>
          </a:prstGeom>
          <a:solidFill>
            <a:srgbClr val="F8FAFD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6">
              <a:solidFill>
                <a:srgbClr val="000000"/>
              </a:solidFill>
            </a:endParaRPr>
          </a:p>
        </p:txBody>
      </p:sp>
      <p:sp>
        <p:nvSpPr>
          <p:cNvPr id="745" name="Google Shape;745;p50"/>
          <p:cNvSpPr/>
          <p:nvPr/>
        </p:nvSpPr>
        <p:spPr>
          <a:xfrm>
            <a:off x="6536709" y="2612226"/>
            <a:ext cx="1086000" cy="710700"/>
          </a:xfrm>
          <a:prstGeom prst="ellipse">
            <a:avLst/>
          </a:prstGeom>
          <a:solidFill>
            <a:srgbClr val="F8FAFD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6">
              <a:solidFill>
                <a:srgbClr val="000000"/>
              </a:solidFill>
            </a:endParaRPr>
          </a:p>
        </p:txBody>
      </p:sp>
      <p:sp>
        <p:nvSpPr>
          <p:cNvPr id="746" name="Google Shape;746;p50"/>
          <p:cNvSpPr txBox="1"/>
          <p:nvPr/>
        </p:nvSpPr>
        <p:spPr>
          <a:xfrm>
            <a:off x="8090335" y="969446"/>
            <a:ext cx="55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875" lIns="72875" spcFirstLastPara="1" rIns="72875" wrap="square" tIns="7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50"/>
          <p:cNvSpPr/>
          <p:nvPr/>
        </p:nvSpPr>
        <p:spPr>
          <a:xfrm>
            <a:off x="6849947" y="2710847"/>
            <a:ext cx="459600" cy="481200"/>
          </a:xfrm>
          <a:prstGeom prst="ellipse">
            <a:avLst/>
          </a:prstGeom>
          <a:solidFill>
            <a:srgbClr val="CFE2F3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89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8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50"/>
          <p:cNvSpPr txBox="1"/>
          <p:nvPr/>
        </p:nvSpPr>
        <p:spPr>
          <a:xfrm>
            <a:off x="6849929" y="3348086"/>
            <a:ext cx="55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875" lIns="72875" spcFirstLastPara="1" rIns="72875" wrap="square" tIns="7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50"/>
          <p:cNvSpPr txBox="1"/>
          <p:nvPr/>
        </p:nvSpPr>
        <p:spPr>
          <a:xfrm>
            <a:off x="6723847" y="1023754"/>
            <a:ext cx="55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875" lIns="72875" spcFirstLastPara="1" rIns="72875" wrap="square" tIns="7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50"/>
          <p:cNvSpPr/>
          <p:nvPr/>
        </p:nvSpPr>
        <p:spPr>
          <a:xfrm>
            <a:off x="7889318" y="2593926"/>
            <a:ext cx="1086000" cy="710700"/>
          </a:xfrm>
          <a:prstGeom prst="ellipse">
            <a:avLst/>
          </a:prstGeom>
          <a:solidFill>
            <a:srgbClr val="F8FAFD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6">
              <a:solidFill>
                <a:srgbClr val="000000"/>
              </a:solidFill>
            </a:endParaRPr>
          </a:p>
        </p:txBody>
      </p:sp>
      <p:sp>
        <p:nvSpPr>
          <p:cNvPr id="751" name="Google Shape;751;p50"/>
          <p:cNvSpPr txBox="1"/>
          <p:nvPr/>
        </p:nvSpPr>
        <p:spPr>
          <a:xfrm>
            <a:off x="8238702" y="3332297"/>
            <a:ext cx="55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875" lIns="72875" spcFirstLastPara="1" rIns="72875" wrap="square" tIns="72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4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50"/>
          <p:cNvSpPr/>
          <p:nvPr/>
        </p:nvSpPr>
        <p:spPr>
          <a:xfrm>
            <a:off x="8210119" y="2708806"/>
            <a:ext cx="459600" cy="481200"/>
          </a:xfrm>
          <a:prstGeom prst="ellipse">
            <a:avLst/>
          </a:prstGeom>
          <a:solidFill>
            <a:srgbClr val="CFE2F3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89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48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50"/>
          <p:cNvSpPr/>
          <p:nvPr/>
        </p:nvSpPr>
        <p:spPr>
          <a:xfrm>
            <a:off x="6832558" y="1480010"/>
            <a:ext cx="459600" cy="481200"/>
          </a:xfrm>
          <a:prstGeom prst="ellipse">
            <a:avLst/>
          </a:prstGeom>
          <a:solidFill>
            <a:srgbClr val="FF0000"/>
          </a:solidFill>
          <a:ln cap="flat" cmpd="sng" w="151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75" lIns="72875" spcFirstLastPara="1" rIns="72875" wrap="square" tIns="7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6">
              <a:solidFill>
                <a:srgbClr val="0000FF"/>
              </a:solidFill>
            </a:endParaRPr>
          </a:p>
        </p:txBody>
      </p:sp>
      <p:cxnSp>
        <p:nvCxnSpPr>
          <p:cNvPr id="754" name="Google Shape;754;p50"/>
          <p:cNvCxnSpPr>
            <a:stCxn id="747" idx="0"/>
            <a:endCxn id="753" idx="4"/>
          </p:cNvCxnSpPr>
          <p:nvPr/>
        </p:nvCxnSpPr>
        <p:spPr>
          <a:xfrm rot="10800000">
            <a:off x="7062347" y="1961147"/>
            <a:ext cx="17400" cy="749700"/>
          </a:xfrm>
          <a:prstGeom prst="straightConnector1">
            <a:avLst/>
          </a:prstGeom>
          <a:noFill/>
          <a:ln cap="flat" cmpd="sng" w="151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50"/>
          <p:cNvCxnSpPr>
            <a:stCxn id="743" idx="4"/>
            <a:endCxn id="752" idx="0"/>
          </p:cNvCxnSpPr>
          <p:nvPr/>
        </p:nvCxnSpPr>
        <p:spPr>
          <a:xfrm>
            <a:off x="8422414" y="1952663"/>
            <a:ext cx="17400" cy="756000"/>
          </a:xfrm>
          <a:prstGeom prst="straightConnector1">
            <a:avLst/>
          </a:prstGeom>
          <a:noFill/>
          <a:ln cap="flat" cmpd="sng" w="151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50"/>
          <p:cNvCxnSpPr>
            <a:stCxn id="752" idx="2"/>
            <a:endCxn id="747" idx="6"/>
          </p:cNvCxnSpPr>
          <p:nvPr/>
        </p:nvCxnSpPr>
        <p:spPr>
          <a:xfrm flipH="1">
            <a:off x="7309519" y="2949406"/>
            <a:ext cx="900600" cy="2100"/>
          </a:xfrm>
          <a:prstGeom prst="straightConnector1">
            <a:avLst/>
          </a:prstGeom>
          <a:noFill/>
          <a:ln cap="flat" cmpd="sng" w="151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50"/>
          <p:cNvCxnSpPr>
            <a:stCxn id="753" idx="6"/>
            <a:endCxn id="743" idx="2"/>
          </p:cNvCxnSpPr>
          <p:nvPr/>
        </p:nvCxnSpPr>
        <p:spPr>
          <a:xfrm flipH="1" rot="10800000">
            <a:off x="7292158" y="1712210"/>
            <a:ext cx="900600" cy="8400"/>
          </a:xfrm>
          <a:prstGeom prst="straightConnector1">
            <a:avLst/>
          </a:prstGeom>
          <a:noFill/>
          <a:ln cap="flat" cmpd="sng" w="142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758" name="Google Shape;758;p50"/>
          <p:cNvSpPr txBox="1"/>
          <p:nvPr/>
        </p:nvSpPr>
        <p:spPr>
          <a:xfrm>
            <a:off x="69146" y="4468646"/>
            <a:ext cx="90948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order of cycle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lead to a chain ending at the virtual node at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We resolve it by adding a virtual edge to the chain with the highest satisfaction loss (δ) forming a cycle.</a:t>
            </a:r>
            <a:endParaRPr baseline="-25000"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59" name="Google Shape;759;p50"/>
          <p:cNvGraphicFramePr/>
          <p:nvPr/>
        </p:nvGraphicFramePr>
        <p:xfrm>
          <a:off x="254310" y="71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5775"/>
                <a:gridCol w="544475"/>
                <a:gridCol w="1007850"/>
              </a:tblGrid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1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1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1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aseline="-25000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aseline="-25000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0" name="Google Shape;760;p50"/>
          <p:cNvGraphicFramePr/>
          <p:nvPr/>
        </p:nvGraphicFramePr>
        <p:xfrm>
          <a:off x="731075" y="2826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43825"/>
                <a:gridCol w="442175"/>
              </a:tblGrid>
              <a:tr h="27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900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00">
                        <a:solidFill>
                          <a:srgbClr val="1B1B1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B1B1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900">
                        <a:solidFill>
                          <a:srgbClr val="1B1B1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9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9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1"/>
          <p:cNvSpPr txBox="1"/>
          <p:nvPr>
            <p:ph idx="1" type="subTitle"/>
          </p:nvPr>
        </p:nvSpPr>
        <p:spPr>
          <a:xfrm>
            <a:off x="204200" y="241910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ReACT-TTC: Classical Vs Modified TTC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6" name="Google Shape;766;p51"/>
          <p:cNvGraphicFramePr/>
          <p:nvPr/>
        </p:nvGraphicFramePr>
        <p:xfrm>
          <a:off x="902965" y="8517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2482375"/>
                <a:gridCol w="2482375"/>
                <a:gridCol w="2482375"/>
              </a:tblGrid>
              <a:tr h="48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Property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Classical TTC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React-TTC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48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Ownership Structure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One-to-one ownership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Co-ownership allowed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Outgoing Edge per Agent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outgoing edge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outgoing edge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Cycle Structure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Disjoint cycles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Overlapping cycles possible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Unowned Capacity Handling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concept of empty slots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Representation of unused capacity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Assignment Resolution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cycles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and incomplete cycles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Resolution Order</a:t>
                      </a:r>
                      <a:endParaRPr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not critical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Satisfaction loss-based priority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2"/>
          <p:cNvSpPr txBox="1"/>
          <p:nvPr/>
        </p:nvSpPr>
        <p:spPr>
          <a:xfrm>
            <a:off x="353800" y="729750"/>
            <a:ext cx="840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1 (Termination):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ReACT-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TTC terminates after a finite number of rounds and returns a feasible assignment.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52"/>
          <p:cNvSpPr txBox="1"/>
          <p:nvPr/>
        </p:nvSpPr>
        <p:spPr>
          <a:xfrm>
            <a:off x="353800" y="1345350"/>
            <a:ext cx="840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2 (Individual rationality):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outcome 𝜇 is individually rational: for every agent 𝑎</a:t>
            </a:r>
            <a:r>
              <a:rPr baseline="-25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𝑖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, 𝜇(𝑎</a:t>
            </a:r>
            <a:r>
              <a:rPr baseline="-25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𝑖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)  ≽ 𝜔(𝑎</a:t>
            </a:r>
            <a:r>
              <a:rPr baseline="-25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𝑖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).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52"/>
          <p:cNvSpPr txBox="1"/>
          <p:nvPr/>
        </p:nvSpPr>
        <p:spPr>
          <a:xfrm>
            <a:off x="342375" y="1960950"/>
            <a:ext cx="84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3 (Pareto Optimality):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The outcome of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i.e., 𝜇, is always Pareto optimal.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52"/>
          <p:cNvSpPr txBox="1"/>
          <p:nvPr/>
        </p:nvSpPr>
        <p:spPr>
          <a:xfrm>
            <a:off x="342375" y="2432131"/>
            <a:ext cx="840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4 (Core Stability):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outcome 𝜇 is in the core, implying no coalition A′ ⊆ A</a:t>
            </a:r>
            <a:r>
              <a:rPr baseline="30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nc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can reassign its initially endowments so that every member of A′ is strictly better than under 𝜇.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52"/>
          <p:cNvSpPr txBox="1"/>
          <p:nvPr/>
        </p:nvSpPr>
        <p:spPr>
          <a:xfrm>
            <a:off x="342375" y="3116006"/>
            <a:ext cx="8409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5 (Strategy-Proofness):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is individually strategy-proof under strict preferences. For any agent 𝑎</a:t>
            </a:r>
            <a:r>
              <a:rPr baseline="-25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𝑖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, holding all other reports fixed, truthful reporting yields an allocation that is at least as good for 𝑎</a:t>
            </a:r>
            <a:r>
              <a:rPr baseline="-25000" i="1" lang="en" sz="1600">
                <a:latin typeface="Times New Roman"/>
                <a:ea typeface="Times New Roman"/>
                <a:cs typeface="Times New Roman"/>
                <a:sym typeface="Times New Roman"/>
              </a:rPr>
              <a:t>𝑖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(in its true preference order) as the allocation obtained under any misreport.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52"/>
          <p:cNvSpPr txBox="1"/>
          <p:nvPr/>
        </p:nvSpPr>
        <p:spPr>
          <a:xfrm>
            <a:off x="353806" y="33535"/>
            <a:ext cx="85206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Analysis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52"/>
          <p:cNvSpPr txBox="1"/>
          <p:nvPr/>
        </p:nvSpPr>
        <p:spPr>
          <a:xfrm>
            <a:off x="-189000" y="4463400"/>
            <a:ext cx="93330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detailed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proofs for the same can be found in the full version of the paper.</a:t>
            </a:r>
            <a:endParaRPr baseline="-25000"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3"/>
          <p:cNvSpPr txBox="1"/>
          <p:nvPr/>
        </p:nvSpPr>
        <p:spPr>
          <a:xfrm>
            <a:off x="6522779" y="1054584"/>
            <a:ext cx="2477100" cy="317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3" name="Google Shape;783;p53"/>
          <p:cNvSpPr txBox="1"/>
          <p:nvPr/>
        </p:nvSpPr>
        <p:spPr>
          <a:xfrm>
            <a:off x="228825" y="1054575"/>
            <a:ext cx="2477100" cy="317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4" name="Google Shape;784;p53"/>
          <p:cNvSpPr txBox="1"/>
          <p:nvPr/>
        </p:nvSpPr>
        <p:spPr>
          <a:xfrm>
            <a:off x="149250" y="275550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Algorithm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53"/>
          <p:cNvSpPr/>
          <p:nvPr/>
        </p:nvSpPr>
        <p:spPr>
          <a:xfrm>
            <a:off x="1554031" y="1611506"/>
            <a:ext cx="1022700" cy="669300"/>
          </a:xfrm>
          <a:prstGeom prst="ellipse">
            <a:avLst/>
          </a:prstGeom>
          <a:solidFill>
            <a:schemeClr val="lt2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1">
              <a:solidFill>
                <a:schemeClr val="dk1"/>
              </a:solidFill>
            </a:endParaRPr>
          </a:p>
        </p:txBody>
      </p:sp>
      <p:sp>
        <p:nvSpPr>
          <p:cNvPr id="786" name="Google Shape;786;p53"/>
          <p:cNvSpPr/>
          <p:nvPr/>
        </p:nvSpPr>
        <p:spPr>
          <a:xfrm>
            <a:off x="1617510" y="1726232"/>
            <a:ext cx="432900" cy="453000"/>
          </a:xfrm>
          <a:prstGeom prst="ellipse">
            <a:avLst/>
          </a:prstGeom>
          <a:solidFill>
            <a:srgbClr val="CFE2F3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51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53"/>
          <p:cNvSpPr/>
          <p:nvPr/>
        </p:nvSpPr>
        <p:spPr>
          <a:xfrm>
            <a:off x="2084751" y="1709006"/>
            <a:ext cx="432900" cy="453000"/>
          </a:xfrm>
          <a:prstGeom prst="ellipse">
            <a:avLst/>
          </a:prstGeom>
          <a:solidFill>
            <a:srgbClr val="CFE2F3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51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53"/>
          <p:cNvSpPr/>
          <p:nvPr/>
        </p:nvSpPr>
        <p:spPr>
          <a:xfrm>
            <a:off x="306924" y="1674534"/>
            <a:ext cx="1022700" cy="669300"/>
          </a:xfrm>
          <a:prstGeom prst="ellipse">
            <a:avLst/>
          </a:prstGeom>
          <a:solidFill>
            <a:schemeClr val="lt2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1">
              <a:solidFill>
                <a:schemeClr val="dk1"/>
              </a:solidFill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1102048" y="2555827"/>
            <a:ext cx="1022700" cy="669300"/>
          </a:xfrm>
          <a:prstGeom prst="ellipse">
            <a:avLst/>
          </a:prstGeom>
          <a:solidFill>
            <a:schemeClr val="lt2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51">
              <a:solidFill>
                <a:schemeClr val="dk1"/>
              </a:solidFill>
            </a:endParaRPr>
          </a:p>
        </p:txBody>
      </p:sp>
      <p:sp>
        <p:nvSpPr>
          <p:cNvPr id="790" name="Google Shape;790;p53"/>
          <p:cNvSpPr txBox="1"/>
          <p:nvPr/>
        </p:nvSpPr>
        <p:spPr>
          <a:xfrm>
            <a:off x="1786503" y="1233332"/>
            <a:ext cx="5232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625" lIns="68625" spcFirstLastPara="1" rIns="68625" wrap="square" tIns="68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53"/>
          <p:cNvSpPr/>
          <p:nvPr/>
        </p:nvSpPr>
        <p:spPr>
          <a:xfrm>
            <a:off x="1397025" y="2679903"/>
            <a:ext cx="432900" cy="453000"/>
          </a:xfrm>
          <a:prstGeom prst="ellipse">
            <a:avLst/>
          </a:prstGeom>
          <a:solidFill>
            <a:srgbClr val="CFE2F3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51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53"/>
          <p:cNvSpPr txBox="1"/>
          <p:nvPr/>
        </p:nvSpPr>
        <p:spPr>
          <a:xfrm>
            <a:off x="1397007" y="3266015"/>
            <a:ext cx="5232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625" lIns="68625" spcFirstLastPara="1" rIns="68625" wrap="square" tIns="68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53"/>
          <p:cNvSpPr/>
          <p:nvPr/>
        </p:nvSpPr>
        <p:spPr>
          <a:xfrm>
            <a:off x="601897" y="1782716"/>
            <a:ext cx="432900" cy="453000"/>
          </a:xfrm>
          <a:prstGeom prst="ellipse">
            <a:avLst/>
          </a:prstGeom>
          <a:solidFill>
            <a:srgbClr val="CFE2F3"/>
          </a:solidFill>
          <a:ln cap="flat" cmpd="sng" w="143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25" lIns="68625" spcFirstLastPara="1" rIns="68625" wrap="square" tIns="68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51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53"/>
          <p:cNvSpPr txBox="1"/>
          <p:nvPr/>
        </p:nvSpPr>
        <p:spPr>
          <a:xfrm>
            <a:off x="511364" y="1296046"/>
            <a:ext cx="5232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625" lIns="68625" spcFirstLastPara="1" rIns="68625" wrap="square" tIns="68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5" name="Google Shape;795;p53"/>
          <p:cNvCxnSpPr>
            <a:stCxn id="793" idx="4"/>
            <a:endCxn id="791" idx="1"/>
          </p:cNvCxnSpPr>
          <p:nvPr/>
        </p:nvCxnSpPr>
        <p:spPr>
          <a:xfrm>
            <a:off x="818347" y="2235716"/>
            <a:ext cx="642000" cy="510600"/>
          </a:xfrm>
          <a:prstGeom prst="straightConnector1">
            <a:avLst/>
          </a:prstGeom>
          <a:noFill/>
          <a:ln cap="flat" cmpd="sng" w="143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53"/>
          <p:cNvCxnSpPr>
            <a:stCxn id="786" idx="2"/>
            <a:endCxn id="793" idx="6"/>
          </p:cNvCxnSpPr>
          <p:nvPr/>
        </p:nvCxnSpPr>
        <p:spPr>
          <a:xfrm flipH="1">
            <a:off x="1034910" y="1952732"/>
            <a:ext cx="582600" cy="56400"/>
          </a:xfrm>
          <a:prstGeom prst="straightConnector1">
            <a:avLst/>
          </a:prstGeom>
          <a:noFill/>
          <a:ln cap="flat" cmpd="sng" w="143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7" name="Google Shape;797;p53"/>
          <p:cNvCxnSpPr>
            <a:stCxn id="791" idx="0"/>
            <a:endCxn id="786" idx="4"/>
          </p:cNvCxnSpPr>
          <p:nvPr/>
        </p:nvCxnSpPr>
        <p:spPr>
          <a:xfrm flipH="1" rot="10800000">
            <a:off x="1613475" y="2179203"/>
            <a:ext cx="220500" cy="500700"/>
          </a:xfrm>
          <a:prstGeom prst="straightConnector1">
            <a:avLst/>
          </a:prstGeom>
          <a:noFill/>
          <a:ln cap="flat" cmpd="sng" w="143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53"/>
          <p:cNvCxnSpPr>
            <a:endCxn id="787" idx="5"/>
          </p:cNvCxnSpPr>
          <p:nvPr/>
        </p:nvCxnSpPr>
        <p:spPr>
          <a:xfrm flipH="1" rot="10800000">
            <a:off x="1773854" y="2095666"/>
            <a:ext cx="680400" cy="661200"/>
          </a:xfrm>
          <a:prstGeom prst="curvedConnector2">
            <a:avLst/>
          </a:prstGeom>
          <a:noFill/>
          <a:ln cap="flat" cmpd="sng" w="1430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9" name="Google Shape;799;p53"/>
          <p:cNvCxnSpPr>
            <a:stCxn id="787" idx="3"/>
            <a:endCxn id="791" idx="7"/>
          </p:cNvCxnSpPr>
          <p:nvPr/>
        </p:nvCxnSpPr>
        <p:spPr>
          <a:xfrm flipH="1">
            <a:off x="1766548" y="2095666"/>
            <a:ext cx="381600" cy="650700"/>
          </a:xfrm>
          <a:prstGeom prst="straightConnector1">
            <a:avLst/>
          </a:prstGeom>
          <a:noFill/>
          <a:ln cap="flat" cmpd="sng" w="14300">
            <a:solidFill>
              <a:srgbClr val="1C458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0" name="Google Shape;800;p53"/>
          <p:cNvSpPr txBox="1"/>
          <p:nvPr/>
        </p:nvSpPr>
        <p:spPr>
          <a:xfrm>
            <a:off x="4" y="3524139"/>
            <a:ext cx="2835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Directed Graph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53"/>
          <p:cNvSpPr txBox="1"/>
          <p:nvPr/>
        </p:nvSpPr>
        <p:spPr>
          <a:xfrm>
            <a:off x="3385754" y="1057756"/>
            <a:ext cx="2477100" cy="317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2" name="Google Shape;802;p53"/>
          <p:cNvSpPr/>
          <p:nvPr/>
        </p:nvSpPr>
        <p:spPr>
          <a:xfrm>
            <a:off x="4703224" y="1541495"/>
            <a:ext cx="989700" cy="647700"/>
          </a:xfrm>
          <a:prstGeom prst="ellipse">
            <a:avLst/>
          </a:prstGeom>
          <a:solidFill>
            <a:schemeClr val="lt2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17">
              <a:solidFill>
                <a:schemeClr val="dk1"/>
              </a:solidFill>
            </a:endParaRPr>
          </a:p>
        </p:txBody>
      </p:sp>
      <p:sp>
        <p:nvSpPr>
          <p:cNvPr id="803" name="Google Shape;803;p53"/>
          <p:cNvSpPr/>
          <p:nvPr/>
        </p:nvSpPr>
        <p:spPr>
          <a:xfrm>
            <a:off x="5003421" y="1652510"/>
            <a:ext cx="418800" cy="438300"/>
          </a:xfrm>
          <a:prstGeom prst="ellipse">
            <a:avLst/>
          </a:prstGeom>
          <a:solidFill>
            <a:srgbClr val="CFE2F3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17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53"/>
          <p:cNvSpPr/>
          <p:nvPr/>
        </p:nvSpPr>
        <p:spPr>
          <a:xfrm>
            <a:off x="3496451" y="1602485"/>
            <a:ext cx="989700" cy="647700"/>
          </a:xfrm>
          <a:prstGeom prst="ellipse">
            <a:avLst/>
          </a:prstGeom>
          <a:solidFill>
            <a:schemeClr val="lt2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17">
              <a:solidFill>
                <a:schemeClr val="dk1"/>
              </a:solidFill>
            </a:endParaRPr>
          </a:p>
        </p:txBody>
      </p:sp>
      <p:sp>
        <p:nvSpPr>
          <p:cNvPr id="805" name="Google Shape;805;p53"/>
          <p:cNvSpPr/>
          <p:nvPr/>
        </p:nvSpPr>
        <p:spPr>
          <a:xfrm>
            <a:off x="4265859" y="2455277"/>
            <a:ext cx="989700" cy="647700"/>
          </a:xfrm>
          <a:prstGeom prst="ellipse">
            <a:avLst/>
          </a:prstGeom>
          <a:solidFill>
            <a:schemeClr val="lt2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17">
              <a:solidFill>
                <a:schemeClr val="dk1"/>
              </a:solidFill>
            </a:endParaRPr>
          </a:p>
        </p:txBody>
      </p:sp>
      <p:sp>
        <p:nvSpPr>
          <p:cNvPr id="806" name="Google Shape;806;p53"/>
          <p:cNvSpPr txBox="1"/>
          <p:nvPr/>
        </p:nvSpPr>
        <p:spPr>
          <a:xfrm>
            <a:off x="4928178" y="1174263"/>
            <a:ext cx="506700" cy="34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375" lIns="66375" spcFirstLastPara="1" rIns="66375" wrap="square" tIns="66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53"/>
          <p:cNvSpPr/>
          <p:nvPr/>
        </p:nvSpPr>
        <p:spPr>
          <a:xfrm>
            <a:off x="4551296" y="2575341"/>
            <a:ext cx="418800" cy="438300"/>
          </a:xfrm>
          <a:prstGeom prst="ellipse">
            <a:avLst/>
          </a:prstGeom>
          <a:solidFill>
            <a:srgbClr val="CFE2F3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17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53"/>
          <p:cNvSpPr txBox="1"/>
          <p:nvPr/>
        </p:nvSpPr>
        <p:spPr>
          <a:xfrm>
            <a:off x="4551280" y="3142499"/>
            <a:ext cx="506700" cy="34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375" lIns="66375" spcFirstLastPara="1" rIns="66375" wrap="square" tIns="66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53"/>
          <p:cNvSpPr/>
          <p:nvPr/>
        </p:nvSpPr>
        <p:spPr>
          <a:xfrm>
            <a:off x="3781883" y="1707168"/>
            <a:ext cx="418800" cy="438300"/>
          </a:xfrm>
          <a:prstGeom prst="ellipse">
            <a:avLst/>
          </a:prstGeom>
          <a:solidFill>
            <a:srgbClr val="CFE2F3"/>
          </a:solidFill>
          <a:ln cap="flat" cmpd="sng" w="13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75" lIns="66375" spcFirstLastPara="1" rIns="66375" wrap="square" tIns="6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7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17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1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53"/>
          <p:cNvSpPr txBox="1"/>
          <p:nvPr/>
        </p:nvSpPr>
        <p:spPr>
          <a:xfrm>
            <a:off x="3694278" y="1234949"/>
            <a:ext cx="506700" cy="349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375" lIns="66375" spcFirstLastPara="1" rIns="66375" wrap="square" tIns="66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1" name="Google Shape;811;p53"/>
          <p:cNvCxnSpPr>
            <a:stCxn id="809" idx="4"/>
            <a:endCxn id="807" idx="1"/>
          </p:cNvCxnSpPr>
          <p:nvPr/>
        </p:nvCxnSpPr>
        <p:spPr>
          <a:xfrm>
            <a:off x="3991283" y="2145468"/>
            <a:ext cx="621300" cy="494100"/>
          </a:xfrm>
          <a:prstGeom prst="straightConnector1">
            <a:avLst/>
          </a:prstGeom>
          <a:noFill/>
          <a:ln cap="flat" cmpd="sng" w="13825">
            <a:solidFill>
              <a:srgbClr val="5B0F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53"/>
          <p:cNvCxnSpPr>
            <a:stCxn id="803" idx="2"/>
            <a:endCxn id="809" idx="6"/>
          </p:cNvCxnSpPr>
          <p:nvPr/>
        </p:nvCxnSpPr>
        <p:spPr>
          <a:xfrm flipH="1">
            <a:off x="4200621" y="1871660"/>
            <a:ext cx="802800" cy="54600"/>
          </a:xfrm>
          <a:prstGeom prst="straightConnector1">
            <a:avLst/>
          </a:prstGeom>
          <a:noFill/>
          <a:ln cap="flat" cmpd="sng" w="138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53"/>
          <p:cNvCxnSpPr>
            <a:stCxn id="807" idx="0"/>
            <a:endCxn id="803" idx="4"/>
          </p:cNvCxnSpPr>
          <p:nvPr/>
        </p:nvCxnSpPr>
        <p:spPr>
          <a:xfrm flipH="1" rot="10800000">
            <a:off x="4760696" y="2090841"/>
            <a:ext cx="452100" cy="484500"/>
          </a:xfrm>
          <a:prstGeom prst="straightConnector1">
            <a:avLst/>
          </a:prstGeom>
          <a:noFill/>
          <a:ln cap="flat" cmpd="sng" w="1382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4" name="Google Shape;814;p53"/>
          <p:cNvSpPr txBox="1"/>
          <p:nvPr/>
        </p:nvSpPr>
        <p:spPr>
          <a:xfrm>
            <a:off x="4446795" y="2102082"/>
            <a:ext cx="324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375" lIns="66375" spcFirstLastPara="1" rIns="66375" wrap="square" tIns="66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72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53"/>
          <p:cNvSpPr txBox="1"/>
          <p:nvPr/>
        </p:nvSpPr>
        <p:spPr>
          <a:xfrm>
            <a:off x="3701053" y="2288471"/>
            <a:ext cx="621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850" lIns="56850" spcFirstLastPara="1" rIns="56850" wrap="square" tIns="5685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0.7</a:t>
            </a:r>
            <a:endParaRPr sz="107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53"/>
          <p:cNvSpPr txBox="1"/>
          <p:nvPr/>
        </p:nvSpPr>
        <p:spPr>
          <a:xfrm>
            <a:off x="3196691" y="3543354"/>
            <a:ext cx="2835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Complete Cycle Detection and Resolution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53"/>
          <p:cNvSpPr/>
          <p:nvPr/>
        </p:nvSpPr>
        <p:spPr>
          <a:xfrm>
            <a:off x="7777107" y="1474538"/>
            <a:ext cx="825600" cy="540600"/>
          </a:xfrm>
          <a:prstGeom prst="ellipse">
            <a:avLst/>
          </a:prstGeom>
          <a:solidFill>
            <a:srgbClr val="F8FAFD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48">
              <a:solidFill>
                <a:srgbClr val="000000"/>
              </a:solidFill>
            </a:endParaRPr>
          </a:p>
        </p:txBody>
      </p:sp>
      <p:sp>
        <p:nvSpPr>
          <p:cNvPr id="818" name="Google Shape;818;p53"/>
          <p:cNvSpPr/>
          <p:nvPr/>
        </p:nvSpPr>
        <p:spPr>
          <a:xfrm>
            <a:off x="8058900" y="1564520"/>
            <a:ext cx="349200" cy="366000"/>
          </a:xfrm>
          <a:prstGeom prst="ellipse">
            <a:avLst/>
          </a:prstGeom>
          <a:solidFill>
            <a:srgbClr val="CFE2F3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48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4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53"/>
          <p:cNvSpPr/>
          <p:nvPr/>
        </p:nvSpPr>
        <p:spPr>
          <a:xfrm>
            <a:off x="6770422" y="1497592"/>
            <a:ext cx="825600" cy="540600"/>
          </a:xfrm>
          <a:prstGeom prst="ellipse">
            <a:avLst/>
          </a:prstGeom>
          <a:solidFill>
            <a:srgbClr val="F8FAFD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48">
              <a:solidFill>
                <a:srgbClr val="000000"/>
              </a:solidFill>
            </a:endParaRPr>
          </a:p>
        </p:txBody>
      </p:sp>
      <p:sp>
        <p:nvSpPr>
          <p:cNvPr id="820" name="Google Shape;820;p53"/>
          <p:cNvSpPr/>
          <p:nvPr/>
        </p:nvSpPr>
        <p:spPr>
          <a:xfrm>
            <a:off x="6800151" y="2452653"/>
            <a:ext cx="825600" cy="540600"/>
          </a:xfrm>
          <a:prstGeom prst="ellipse">
            <a:avLst/>
          </a:prstGeom>
          <a:solidFill>
            <a:srgbClr val="F8FAFD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48">
              <a:solidFill>
                <a:srgbClr val="000000"/>
              </a:solidFill>
            </a:endParaRPr>
          </a:p>
        </p:txBody>
      </p:sp>
      <p:sp>
        <p:nvSpPr>
          <p:cNvPr id="821" name="Google Shape;821;p53"/>
          <p:cNvSpPr txBox="1"/>
          <p:nvPr/>
        </p:nvSpPr>
        <p:spPr>
          <a:xfrm>
            <a:off x="7994444" y="1153059"/>
            <a:ext cx="42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00" lIns="55400" spcFirstLastPara="1" rIns="55400" wrap="square" tIns="55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53"/>
          <p:cNvSpPr/>
          <p:nvPr/>
        </p:nvSpPr>
        <p:spPr>
          <a:xfrm>
            <a:off x="7038261" y="2527620"/>
            <a:ext cx="349200" cy="366000"/>
          </a:xfrm>
          <a:prstGeom prst="ellipse">
            <a:avLst/>
          </a:prstGeom>
          <a:solidFill>
            <a:srgbClr val="CFE2F3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48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4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53"/>
          <p:cNvSpPr txBox="1"/>
          <p:nvPr/>
        </p:nvSpPr>
        <p:spPr>
          <a:xfrm>
            <a:off x="7038247" y="3012026"/>
            <a:ext cx="42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00" lIns="55400" spcFirstLastPara="1" rIns="55400" wrap="square" tIns="55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53"/>
          <p:cNvSpPr txBox="1"/>
          <p:nvPr/>
        </p:nvSpPr>
        <p:spPr>
          <a:xfrm>
            <a:off x="6942405" y="1164496"/>
            <a:ext cx="42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00" lIns="55400" spcFirstLastPara="1" rIns="55400" wrap="square" tIns="55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53"/>
          <p:cNvSpPr/>
          <p:nvPr/>
        </p:nvSpPr>
        <p:spPr>
          <a:xfrm>
            <a:off x="7828347" y="2438741"/>
            <a:ext cx="825600" cy="540600"/>
          </a:xfrm>
          <a:prstGeom prst="ellipse">
            <a:avLst/>
          </a:prstGeom>
          <a:solidFill>
            <a:srgbClr val="F8FAFD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48">
              <a:solidFill>
                <a:srgbClr val="000000"/>
              </a:solidFill>
            </a:endParaRPr>
          </a:p>
        </p:txBody>
      </p:sp>
      <p:sp>
        <p:nvSpPr>
          <p:cNvPr id="826" name="Google Shape;826;p53"/>
          <p:cNvSpPr txBox="1"/>
          <p:nvPr/>
        </p:nvSpPr>
        <p:spPr>
          <a:xfrm>
            <a:off x="8093934" y="3000024"/>
            <a:ext cx="42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00" lIns="55400" spcFirstLastPara="1" rIns="55400" wrap="square" tIns="55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53"/>
          <p:cNvSpPr/>
          <p:nvPr/>
        </p:nvSpPr>
        <p:spPr>
          <a:xfrm>
            <a:off x="8072207" y="2526069"/>
            <a:ext cx="349200" cy="366000"/>
          </a:xfrm>
          <a:prstGeom prst="ellipse">
            <a:avLst/>
          </a:prstGeom>
          <a:solidFill>
            <a:srgbClr val="CFE2F3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48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4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53"/>
          <p:cNvSpPr/>
          <p:nvPr/>
        </p:nvSpPr>
        <p:spPr>
          <a:xfrm>
            <a:off x="7025043" y="1571018"/>
            <a:ext cx="349200" cy="366000"/>
          </a:xfrm>
          <a:prstGeom prst="ellipse">
            <a:avLst/>
          </a:prstGeom>
          <a:solidFill>
            <a:srgbClr val="FF0000"/>
          </a:solidFill>
          <a:ln cap="flat" cmpd="sng" w="115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00" lIns="55400" spcFirstLastPara="1" rIns="55400" wrap="square" tIns="5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48">
              <a:solidFill>
                <a:srgbClr val="0000FF"/>
              </a:solidFill>
            </a:endParaRPr>
          </a:p>
        </p:txBody>
      </p:sp>
      <p:cxnSp>
        <p:nvCxnSpPr>
          <p:cNvPr id="829" name="Google Shape;829;p53"/>
          <p:cNvCxnSpPr>
            <a:stCxn id="822" idx="0"/>
            <a:endCxn id="828" idx="4"/>
          </p:cNvCxnSpPr>
          <p:nvPr/>
        </p:nvCxnSpPr>
        <p:spPr>
          <a:xfrm rot="10800000">
            <a:off x="7199661" y="1936920"/>
            <a:ext cx="13200" cy="590700"/>
          </a:xfrm>
          <a:prstGeom prst="straightConnector1">
            <a:avLst/>
          </a:prstGeom>
          <a:noFill/>
          <a:ln cap="flat" cmpd="sng" w="115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53"/>
          <p:cNvCxnSpPr>
            <a:stCxn id="818" idx="4"/>
            <a:endCxn id="827" idx="0"/>
          </p:cNvCxnSpPr>
          <p:nvPr/>
        </p:nvCxnSpPr>
        <p:spPr>
          <a:xfrm>
            <a:off x="8233500" y="1930520"/>
            <a:ext cx="13200" cy="595500"/>
          </a:xfrm>
          <a:prstGeom prst="straightConnector1">
            <a:avLst/>
          </a:prstGeom>
          <a:noFill/>
          <a:ln cap="flat" cmpd="sng" w="115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3"/>
          <p:cNvCxnSpPr>
            <a:stCxn id="827" idx="2"/>
            <a:endCxn id="822" idx="6"/>
          </p:cNvCxnSpPr>
          <p:nvPr/>
        </p:nvCxnSpPr>
        <p:spPr>
          <a:xfrm flipH="1">
            <a:off x="7387607" y="2709069"/>
            <a:ext cx="684600" cy="1500"/>
          </a:xfrm>
          <a:prstGeom prst="straightConnector1">
            <a:avLst/>
          </a:prstGeom>
          <a:noFill/>
          <a:ln cap="flat" cmpd="sng" w="115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53"/>
          <p:cNvCxnSpPr>
            <a:stCxn id="828" idx="6"/>
            <a:endCxn id="818" idx="2"/>
          </p:cNvCxnSpPr>
          <p:nvPr/>
        </p:nvCxnSpPr>
        <p:spPr>
          <a:xfrm flipH="1" rot="10800000">
            <a:off x="7374243" y="1747418"/>
            <a:ext cx="684600" cy="6600"/>
          </a:xfrm>
          <a:prstGeom prst="straightConnector1">
            <a:avLst/>
          </a:prstGeom>
          <a:noFill/>
          <a:ln cap="flat" cmpd="sng" w="108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833" name="Google Shape;833;p53"/>
          <p:cNvSpPr txBox="1"/>
          <p:nvPr/>
        </p:nvSpPr>
        <p:spPr>
          <a:xfrm>
            <a:off x="6393391" y="3589429"/>
            <a:ext cx="2835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In-complete Cycle Detection and Resolution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4" name="Google Shape;834;p53"/>
          <p:cNvCxnSpPr>
            <a:stCxn id="782" idx="2"/>
            <a:endCxn id="783" idx="2"/>
          </p:cNvCxnSpPr>
          <p:nvPr/>
        </p:nvCxnSpPr>
        <p:spPr>
          <a:xfrm rot="5400000">
            <a:off x="4614029" y="1081584"/>
            <a:ext cx="600" cy="6294000"/>
          </a:xfrm>
          <a:prstGeom prst="curvedConnector3">
            <a:avLst>
              <a:gd fmla="val 144244366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5" name="Google Shape;835;p53"/>
          <p:cNvCxnSpPr>
            <a:stCxn id="783" idx="3"/>
            <a:endCxn id="801" idx="1"/>
          </p:cNvCxnSpPr>
          <p:nvPr/>
        </p:nvCxnSpPr>
        <p:spPr>
          <a:xfrm>
            <a:off x="2705925" y="2641425"/>
            <a:ext cx="679800" cy="3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6" name="Google Shape;836;p53"/>
          <p:cNvCxnSpPr>
            <a:stCxn id="801" idx="3"/>
            <a:endCxn id="782" idx="1"/>
          </p:cNvCxnSpPr>
          <p:nvPr/>
        </p:nvCxnSpPr>
        <p:spPr>
          <a:xfrm flipH="1" rot="10800000">
            <a:off x="5862854" y="2641306"/>
            <a:ext cx="660000" cy="3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7" name="Google Shape;837;p53"/>
          <p:cNvSpPr txBox="1"/>
          <p:nvPr/>
        </p:nvSpPr>
        <p:spPr>
          <a:xfrm>
            <a:off x="3206641" y="4433429"/>
            <a:ext cx="2835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the process till there an unprocessed agent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53"/>
          <p:cNvSpPr txBox="1"/>
          <p:nvPr/>
        </p:nvSpPr>
        <p:spPr>
          <a:xfrm>
            <a:off x="7560720" y="2122395"/>
            <a:ext cx="3249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375" lIns="66375" spcFirstLastPara="1" rIns="66375" wrap="square" tIns="66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72"/>
              </a:spcAft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4"/>
          <p:cNvSpPr txBox="1"/>
          <p:nvPr/>
        </p:nvSpPr>
        <p:spPr>
          <a:xfrm>
            <a:off x="149250" y="275550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54"/>
          <p:cNvSpPr txBox="1"/>
          <p:nvPr/>
        </p:nvSpPr>
        <p:spPr>
          <a:xfrm>
            <a:off x="465700" y="968550"/>
            <a:ext cx="59355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JD Logistics  distribution network in Beijing [10]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54"/>
          <p:cNvSpPr txBox="1"/>
          <p:nvPr/>
        </p:nvSpPr>
        <p:spPr>
          <a:xfrm>
            <a:off x="481050" y="3773100"/>
            <a:ext cx="8142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[10] Zheng, Z. et al. Hybrid Memetic Search for Electric Vehicle Routing with Time Windows, Simultaneous Pickup-Delivery, and Partial Recharges. arXiv, 2024.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[11] Chatterjee, P. et al. V2VDisCS: Vehicle-to-Vehicle Distributed Charge Sharing in Intelligent Transportation Systems. IEEE T-ITS, 2025.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[12] Akter, M. et al. MOVE: Matching Game for Partial Offloading in Vehicular Edge Computing. IEEE ICC, 2024.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[13] Khanda, A. et al. SMEVCA: Stable Matching-Based EV Charging Assignment in Subscription-Based Models. ICDCN, 2025.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54"/>
          <p:cNvSpPr/>
          <p:nvPr/>
        </p:nvSpPr>
        <p:spPr>
          <a:xfrm>
            <a:off x="621000" y="1478100"/>
            <a:ext cx="7902000" cy="2187300"/>
          </a:xfrm>
          <a:prstGeom prst="roundRect">
            <a:avLst>
              <a:gd fmla="val 5329" name="adj"/>
            </a:avLst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54"/>
          <p:cNvSpPr txBox="1"/>
          <p:nvPr/>
        </p:nvSpPr>
        <p:spPr>
          <a:xfrm>
            <a:off x="2939050" y="1484638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Algorithms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54"/>
          <p:cNvSpPr/>
          <p:nvPr/>
        </p:nvSpPr>
        <p:spPr>
          <a:xfrm>
            <a:off x="705850" y="1993800"/>
            <a:ext cx="2340600" cy="1535100"/>
          </a:xfrm>
          <a:prstGeom prst="roundRect">
            <a:avLst>
              <a:gd fmla="val 5329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54"/>
          <p:cNvSpPr txBox="1"/>
          <p:nvPr/>
        </p:nvSpPr>
        <p:spPr>
          <a:xfrm>
            <a:off x="946250" y="1993800"/>
            <a:ext cx="18534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V2VDisCS [11]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0" name="Google Shape;850;p54"/>
          <p:cNvSpPr txBox="1"/>
          <p:nvPr/>
        </p:nvSpPr>
        <p:spPr>
          <a:xfrm>
            <a:off x="828200" y="2282671"/>
            <a:ext cx="2126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charge sharing via stable matching on bipartite graphs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54"/>
          <p:cNvSpPr/>
          <p:nvPr/>
        </p:nvSpPr>
        <p:spPr>
          <a:xfrm>
            <a:off x="3250600" y="1993800"/>
            <a:ext cx="2412600" cy="1535100"/>
          </a:xfrm>
          <a:prstGeom prst="roundRect">
            <a:avLst>
              <a:gd fmla="val 5329" name="adj"/>
            </a:avLst>
          </a:prstGeom>
          <a:solidFill>
            <a:srgbClr val="3D85C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54"/>
          <p:cNvSpPr txBox="1"/>
          <p:nvPr/>
        </p:nvSpPr>
        <p:spPr>
          <a:xfrm>
            <a:off x="3758350" y="1991363"/>
            <a:ext cx="13614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DAA [12]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3391305" y="2306224"/>
            <a:ext cx="2126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Charger assignment driven by deferred acceptance algorithm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54"/>
          <p:cNvSpPr/>
          <p:nvPr/>
        </p:nvSpPr>
        <p:spPr>
          <a:xfrm>
            <a:off x="5884650" y="1993800"/>
            <a:ext cx="2483400" cy="1535100"/>
          </a:xfrm>
          <a:prstGeom prst="roundRect">
            <a:avLst>
              <a:gd fmla="val 5329" name="adj"/>
            </a:avLst>
          </a:prstGeom>
          <a:solidFill>
            <a:srgbClr val="0B5394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54"/>
          <p:cNvSpPr txBox="1"/>
          <p:nvPr/>
        </p:nvSpPr>
        <p:spPr>
          <a:xfrm>
            <a:off x="5867350" y="1991375"/>
            <a:ext cx="25494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SMEVCA [13]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54"/>
          <p:cNvSpPr txBox="1"/>
          <p:nvPr/>
        </p:nvSpPr>
        <p:spPr>
          <a:xfrm>
            <a:off x="6078605" y="2306224"/>
            <a:ext cx="2126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Subscription-driven SLA frameworks (PCD, PCG) for charger assignment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55" title="Sum of assigned indices_bar_vs_ev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5" y="1817425"/>
            <a:ext cx="2267444" cy="18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5"/>
          <p:cNvSpPr txBox="1"/>
          <p:nvPr/>
        </p:nvSpPr>
        <p:spPr>
          <a:xfrm>
            <a:off x="169050" y="7299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3" name="Google Shape;863;p55" title="Sum of assigned indices_bar_vs_Queue_ratio0.8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3759" y="1857775"/>
            <a:ext cx="2359324" cy="176948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5"/>
          <p:cNvSpPr txBox="1"/>
          <p:nvPr/>
        </p:nvSpPr>
        <p:spPr>
          <a:xfrm>
            <a:off x="179075" y="831661"/>
            <a:ext cx="44031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Index Sum: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Measures the aggregate rank of allocations for non-compliant agents (Lower is better) </a:t>
            </a:r>
            <a:endParaRPr i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55"/>
          <p:cNvSpPr txBox="1"/>
          <p:nvPr/>
        </p:nvSpPr>
        <p:spPr>
          <a:xfrm>
            <a:off x="179075" y="3656575"/>
            <a:ext cx="4504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achieves the lowest aggregate rank sum.</a:t>
            </a:r>
            <a:endParaRPr i="1" sz="1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56" title="Sum of assigned indices_bar_vs_ev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5" y="1817425"/>
            <a:ext cx="2267444" cy="18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56"/>
          <p:cNvSpPr txBox="1"/>
          <p:nvPr/>
        </p:nvSpPr>
        <p:spPr>
          <a:xfrm>
            <a:off x="169050" y="7299"/>
            <a:ext cx="88059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2" name="Google Shape;872;p56" title="Sum of assigned indices_bar_vs_Queue_ratio0.8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3759" y="1857775"/>
            <a:ext cx="2359324" cy="176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6" title="Total satisfaction PT_bar_vs_ev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9499" y="1924178"/>
            <a:ext cx="2210300" cy="165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6" title="Total satisfaction PT_bar_vs_Queue_ratio0.8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9795" y="1936819"/>
            <a:ext cx="2180180" cy="163517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56"/>
          <p:cNvSpPr txBox="1"/>
          <p:nvPr/>
        </p:nvSpPr>
        <p:spPr>
          <a:xfrm>
            <a:off x="4780550" y="772956"/>
            <a:ext cx="40950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PT-Satisfaction: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Measures PT- satisfaction relative to the user’s initial endowment or reference point (Higher is better)</a:t>
            </a:r>
            <a:endParaRPr i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56"/>
          <p:cNvSpPr txBox="1"/>
          <p:nvPr/>
        </p:nvSpPr>
        <p:spPr>
          <a:xfrm>
            <a:off x="179075" y="831661"/>
            <a:ext cx="44031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Index Sum: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Measures the aggregate rank of allocations for non-compliant agents (Lower is better) </a:t>
            </a:r>
            <a:endParaRPr i="1"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7" name="Google Shape;877;p56"/>
          <p:cNvSpPr txBox="1"/>
          <p:nvPr/>
        </p:nvSpPr>
        <p:spPr>
          <a:xfrm>
            <a:off x="4780549" y="3646625"/>
            <a:ext cx="43194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attains the highest scores.</a:t>
            </a:r>
            <a:endParaRPr i="1" sz="1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are never worse off than their starting state.</a:t>
            </a:r>
            <a:endParaRPr i="1" sz="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56"/>
          <p:cNvSpPr txBox="1"/>
          <p:nvPr/>
        </p:nvSpPr>
        <p:spPr>
          <a:xfrm>
            <a:off x="179075" y="3656575"/>
            <a:ext cx="4504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achieves the lowest aggregate rank sum.</a:t>
            </a:r>
            <a:endParaRPr i="1" sz="1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9" name="Google Shape;879;p56"/>
          <p:cNvCxnSpPr/>
          <p:nvPr/>
        </p:nvCxnSpPr>
        <p:spPr>
          <a:xfrm>
            <a:off x="4683875" y="784267"/>
            <a:ext cx="0" cy="34275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7"/>
          <p:cNvSpPr txBox="1"/>
          <p:nvPr/>
        </p:nvSpPr>
        <p:spPr>
          <a:xfrm>
            <a:off x="169059" y="172880"/>
            <a:ext cx="88059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57"/>
          <p:cNvSpPr txBox="1"/>
          <p:nvPr/>
        </p:nvSpPr>
        <p:spPr>
          <a:xfrm>
            <a:off x="179075" y="831650"/>
            <a:ext cx="83490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extends classical TTC to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multi-quota CPS under non-compliance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allows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preference-driven exchanges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many-to-one settings and can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unassigned capacity efficiently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models realistic user satisfaction by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prospect-theoretic preferences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ReACT-TTC guarantees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Pareto optimality, individual rationality, core stability and strategy proofness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experimental analysis on real EV charging data shows that ReACT-TTC </a:t>
            </a:r>
            <a:r>
              <a:rPr i="1" lang="en" sz="1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user satisfaction 43%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average.</a:t>
            </a:r>
            <a:endParaRPr i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57"/>
          <p:cNvSpPr txBox="1"/>
          <p:nvPr/>
        </p:nvSpPr>
        <p:spPr>
          <a:xfrm>
            <a:off x="367825" y="3547650"/>
            <a:ext cx="80979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Directions</a:t>
            </a:r>
            <a:endParaRPr b="1" sz="16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cycle detection to make ReACT-TTC scalable.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domain evaluation: compute task allocation and UAV bandwidth sharing.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8"/>
          <p:cNvSpPr txBox="1"/>
          <p:nvPr>
            <p:ph type="ctrTitle"/>
          </p:nvPr>
        </p:nvSpPr>
        <p:spPr>
          <a:xfrm>
            <a:off x="261950" y="187450"/>
            <a:ext cx="8520600" cy="15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9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2" name="Google Shape;892;p58" title="react_ttc_qr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675" y="1566275"/>
            <a:ext cx="3147350" cy="314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9"/>
          <p:cNvSpPr txBox="1"/>
          <p:nvPr>
            <p:ph idx="1" type="subTitle"/>
          </p:nvPr>
        </p:nvSpPr>
        <p:spPr>
          <a:xfrm>
            <a:off x="172400" y="1858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Journal Extension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0"/>
          <p:cNvSpPr txBox="1"/>
          <p:nvPr/>
        </p:nvSpPr>
        <p:spPr>
          <a:xfrm>
            <a:off x="1512199" y="80375"/>
            <a:ext cx="62577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Heuristic: Which cycle to resolve First?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p60"/>
          <p:cNvSpPr/>
          <p:nvPr/>
        </p:nvSpPr>
        <p:spPr>
          <a:xfrm>
            <a:off x="2278003" y="1372414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904" name="Google Shape;904;p60"/>
          <p:cNvSpPr/>
          <p:nvPr/>
        </p:nvSpPr>
        <p:spPr>
          <a:xfrm>
            <a:off x="2376824" y="1551011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60"/>
          <p:cNvSpPr/>
          <p:nvPr/>
        </p:nvSpPr>
        <p:spPr>
          <a:xfrm>
            <a:off x="3104189" y="1524195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6" name="Google Shape;906;p60"/>
          <p:cNvSpPr/>
          <p:nvPr/>
        </p:nvSpPr>
        <p:spPr>
          <a:xfrm>
            <a:off x="336601" y="1470532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907" name="Google Shape;907;p60"/>
          <p:cNvSpPr/>
          <p:nvPr/>
        </p:nvSpPr>
        <p:spPr>
          <a:xfrm>
            <a:off x="1574390" y="2842465"/>
            <a:ext cx="1592100" cy="1041900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908" name="Google Shape;908;p60"/>
          <p:cNvSpPr txBox="1"/>
          <p:nvPr/>
        </p:nvSpPr>
        <p:spPr>
          <a:xfrm>
            <a:off x="2639899" y="845650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9" name="Google Shape;909;p60"/>
          <p:cNvSpPr/>
          <p:nvPr/>
        </p:nvSpPr>
        <p:spPr>
          <a:xfrm>
            <a:off x="2033588" y="3035617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0" name="Google Shape;910;p60"/>
          <p:cNvSpPr txBox="1"/>
          <p:nvPr/>
        </p:nvSpPr>
        <p:spPr>
          <a:xfrm>
            <a:off x="2033561" y="3948036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60"/>
          <p:cNvSpPr/>
          <p:nvPr/>
        </p:nvSpPr>
        <p:spPr>
          <a:xfrm>
            <a:off x="795792" y="1638942"/>
            <a:ext cx="673800" cy="705300"/>
          </a:xfrm>
          <a:prstGeom prst="ellipse">
            <a:avLst/>
          </a:prstGeom>
          <a:solidFill>
            <a:srgbClr val="CFE2F3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2036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20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2" name="Google Shape;912;p60"/>
          <p:cNvSpPr txBox="1"/>
          <p:nvPr/>
        </p:nvSpPr>
        <p:spPr>
          <a:xfrm>
            <a:off x="654857" y="943278"/>
            <a:ext cx="814800" cy="46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3" name="Google Shape;913;p60"/>
          <p:cNvCxnSpPr>
            <a:stCxn id="911" idx="4"/>
            <a:endCxn id="909" idx="1"/>
          </p:cNvCxnSpPr>
          <p:nvPr/>
        </p:nvCxnSpPr>
        <p:spPr>
          <a:xfrm>
            <a:off x="1132692" y="2344242"/>
            <a:ext cx="999600" cy="794700"/>
          </a:xfrm>
          <a:prstGeom prst="straightConnector1">
            <a:avLst/>
          </a:prstGeom>
          <a:noFill/>
          <a:ln cap="flat" cmpd="sng" w="22250">
            <a:solidFill>
              <a:srgbClr val="5B0F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14" name="Google Shape;914;p60"/>
          <p:cNvCxnSpPr>
            <a:stCxn id="904" idx="2"/>
            <a:endCxn id="911" idx="6"/>
          </p:cNvCxnSpPr>
          <p:nvPr/>
        </p:nvCxnSpPr>
        <p:spPr>
          <a:xfrm flipH="1">
            <a:off x="1469624" y="1903661"/>
            <a:ext cx="907200" cy="87900"/>
          </a:xfrm>
          <a:prstGeom prst="straightConnector1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60"/>
          <p:cNvCxnSpPr>
            <a:stCxn id="909" idx="0"/>
            <a:endCxn id="904" idx="4"/>
          </p:cNvCxnSpPr>
          <p:nvPr/>
        </p:nvCxnSpPr>
        <p:spPr>
          <a:xfrm flipH="1" rot="10800000">
            <a:off x="2370488" y="2256217"/>
            <a:ext cx="343200" cy="779400"/>
          </a:xfrm>
          <a:prstGeom prst="straightConnector1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60"/>
          <p:cNvCxnSpPr>
            <a:endCxn id="905" idx="5"/>
          </p:cNvCxnSpPr>
          <p:nvPr/>
        </p:nvCxnSpPr>
        <p:spPr>
          <a:xfrm flipH="1" rot="10800000">
            <a:off x="2620013" y="2126206"/>
            <a:ext cx="1059300" cy="1029000"/>
          </a:xfrm>
          <a:prstGeom prst="curvedConnector2">
            <a:avLst/>
          </a:prstGeom>
          <a:noFill/>
          <a:ln cap="flat" cmpd="sng" w="222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60"/>
          <p:cNvCxnSpPr>
            <a:stCxn id="905" idx="3"/>
            <a:endCxn id="909" idx="7"/>
          </p:cNvCxnSpPr>
          <p:nvPr/>
        </p:nvCxnSpPr>
        <p:spPr>
          <a:xfrm flipH="1">
            <a:off x="2608564" y="2126206"/>
            <a:ext cx="594300" cy="1012800"/>
          </a:xfrm>
          <a:prstGeom prst="straightConnector1">
            <a:avLst/>
          </a:prstGeom>
          <a:noFill/>
          <a:ln cap="flat" cmpd="sng" w="22250">
            <a:solidFill>
              <a:srgbClr val="5B0F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18" name="Google Shape;918;p60"/>
          <p:cNvSpPr txBox="1"/>
          <p:nvPr/>
        </p:nvSpPr>
        <p:spPr>
          <a:xfrm>
            <a:off x="1865471" y="2274261"/>
            <a:ext cx="52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3">
              <a:solidFill>
                <a:srgbClr val="FF0000"/>
              </a:solidFill>
            </a:endParaRPr>
          </a:p>
        </p:txBody>
      </p:sp>
      <p:sp>
        <p:nvSpPr>
          <p:cNvPr id="919" name="Google Shape;919;p60"/>
          <p:cNvSpPr txBox="1"/>
          <p:nvPr/>
        </p:nvSpPr>
        <p:spPr>
          <a:xfrm>
            <a:off x="2775899" y="2554239"/>
            <a:ext cx="52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69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3">
              <a:solidFill>
                <a:srgbClr val="FF0000"/>
              </a:solidFill>
            </a:endParaRPr>
          </a:p>
        </p:txBody>
      </p:sp>
      <p:sp>
        <p:nvSpPr>
          <p:cNvPr id="920" name="Google Shape;920;p60"/>
          <p:cNvSpPr txBox="1"/>
          <p:nvPr/>
        </p:nvSpPr>
        <p:spPr>
          <a:xfrm>
            <a:off x="4634000" y="943275"/>
            <a:ext cx="41358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overlapping vertex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achieves the same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who get impacted the most?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predecessor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agents are resolved in a later rounds of TTC, reducing their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satisfaction reduction is captured as satisfaction loss (δ).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Heuristic:</a:t>
            </a:r>
            <a:r>
              <a:rPr lang="en" sz="16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 cycles that has a higher (δ), therefore maximizing the satisfaction.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60"/>
          <p:cNvSpPr txBox="1"/>
          <p:nvPr/>
        </p:nvSpPr>
        <p:spPr>
          <a:xfrm>
            <a:off x="665755" y="2574115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60"/>
          <p:cNvSpPr txBox="1"/>
          <p:nvPr/>
        </p:nvSpPr>
        <p:spPr>
          <a:xfrm>
            <a:off x="2617137" y="2315159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1"/>
          <p:cNvSpPr/>
          <p:nvPr/>
        </p:nvSpPr>
        <p:spPr>
          <a:xfrm>
            <a:off x="6431997" y="4042562"/>
            <a:ext cx="7467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28" name="Google Shape;928;p61"/>
          <p:cNvSpPr/>
          <p:nvPr/>
        </p:nvSpPr>
        <p:spPr>
          <a:xfrm>
            <a:off x="5398975" y="3947775"/>
            <a:ext cx="7467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29" name="Google Shape;929;p61"/>
          <p:cNvSpPr/>
          <p:nvPr/>
        </p:nvSpPr>
        <p:spPr>
          <a:xfrm>
            <a:off x="6940575" y="1413354"/>
            <a:ext cx="8676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30" name="Google Shape;930;p61"/>
          <p:cNvSpPr/>
          <p:nvPr/>
        </p:nvSpPr>
        <p:spPr>
          <a:xfrm>
            <a:off x="5012275" y="1174304"/>
            <a:ext cx="8676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31" name="Google Shape;931;p61"/>
          <p:cNvSpPr/>
          <p:nvPr/>
        </p:nvSpPr>
        <p:spPr>
          <a:xfrm rot="849435">
            <a:off x="5517058" y="2443773"/>
            <a:ext cx="1550388" cy="913003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932" name="Google Shape;932;p61"/>
          <p:cNvSpPr txBox="1"/>
          <p:nvPr>
            <p:ph idx="1" type="subTitle"/>
          </p:nvPr>
        </p:nvSpPr>
        <p:spPr>
          <a:xfrm>
            <a:off x="254300" y="-32402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Problems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 with the Existing Heuristic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3" name="Google Shape;933;p61"/>
          <p:cNvGraphicFramePr/>
          <p:nvPr/>
        </p:nvGraphicFramePr>
        <p:xfrm>
          <a:off x="164525" y="58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1207100"/>
                <a:gridCol w="1207100"/>
                <a:gridCol w="1207100"/>
              </a:tblGrid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4" name="Google Shape;934;p61"/>
          <p:cNvGraphicFramePr/>
          <p:nvPr/>
        </p:nvGraphicFramePr>
        <p:xfrm>
          <a:off x="1249648" y="3037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92800"/>
                <a:gridCol w="698200"/>
              </a:tblGrid>
              <a:tr h="26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5" name="Google Shape;935;p61"/>
          <p:cNvSpPr/>
          <p:nvPr/>
        </p:nvSpPr>
        <p:spPr>
          <a:xfrm>
            <a:off x="5151020" y="124917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61"/>
          <p:cNvSpPr/>
          <p:nvPr/>
        </p:nvSpPr>
        <p:spPr>
          <a:xfrm>
            <a:off x="7092820" y="1500652"/>
            <a:ext cx="576600" cy="603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61"/>
          <p:cNvSpPr txBox="1"/>
          <p:nvPr/>
        </p:nvSpPr>
        <p:spPr>
          <a:xfrm rot="-2205">
            <a:off x="6278241" y="555598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8" name="Google Shape;938;p61"/>
          <p:cNvCxnSpPr>
            <a:stCxn id="935" idx="7"/>
            <a:endCxn id="936" idx="0"/>
          </p:cNvCxnSpPr>
          <p:nvPr/>
        </p:nvCxnSpPr>
        <p:spPr>
          <a:xfrm flipH="1" rot="-5400000">
            <a:off x="6430529" y="550222"/>
            <a:ext cx="163200" cy="1737900"/>
          </a:xfrm>
          <a:prstGeom prst="curvedConnector3">
            <a:avLst>
              <a:gd fmla="val -200074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9" name="Google Shape;939;p61"/>
          <p:cNvSpPr/>
          <p:nvPr/>
        </p:nvSpPr>
        <p:spPr>
          <a:xfrm>
            <a:off x="5667945" y="254261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61"/>
          <p:cNvSpPr/>
          <p:nvPr/>
        </p:nvSpPr>
        <p:spPr>
          <a:xfrm>
            <a:off x="6349920" y="266146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61"/>
          <p:cNvSpPr/>
          <p:nvPr/>
        </p:nvSpPr>
        <p:spPr>
          <a:xfrm>
            <a:off x="6496020" y="414522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61"/>
          <p:cNvSpPr/>
          <p:nvPr/>
        </p:nvSpPr>
        <p:spPr>
          <a:xfrm>
            <a:off x="5484020" y="4033302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3" name="Google Shape;943;p61"/>
          <p:cNvCxnSpPr>
            <a:stCxn id="942" idx="0"/>
            <a:endCxn id="941" idx="0"/>
          </p:cNvCxnSpPr>
          <p:nvPr/>
        </p:nvCxnSpPr>
        <p:spPr>
          <a:xfrm flipH="1" rot="-5400000">
            <a:off x="6222320" y="3583302"/>
            <a:ext cx="111900" cy="1011900"/>
          </a:xfrm>
          <a:prstGeom prst="curvedConnector3">
            <a:avLst>
              <a:gd fmla="val -259720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4" name="Google Shape;944;p61"/>
          <p:cNvCxnSpPr>
            <a:stCxn id="936" idx="6"/>
            <a:endCxn id="940" idx="6"/>
          </p:cNvCxnSpPr>
          <p:nvPr/>
        </p:nvCxnSpPr>
        <p:spPr>
          <a:xfrm flipH="1">
            <a:off x="6926620" y="1802452"/>
            <a:ext cx="742800" cy="1160700"/>
          </a:xfrm>
          <a:prstGeom prst="curvedConnector3">
            <a:avLst>
              <a:gd fmla="val -32058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45" name="Google Shape;945;p61"/>
          <p:cNvSpPr txBox="1"/>
          <p:nvPr/>
        </p:nvSpPr>
        <p:spPr>
          <a:xfrm rot="-2697665">
            <a:off x="7698526" y="2557638"/>
            <a:ext cx="624517" cy="431052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61"/>
          <p:cNvSpPr txBox="1"/>
          <p:nvPr/>
        </p:nvSpPr>
        <p:spPr>
          <a:xfrm rot="1652">
            <a:off x="6727571" y="3497398"/>
            <a:ext cx="624300" cy="415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7" name="Google Shape;947;p61"/>
          <p:cNvCxnSpPr>
            <a:stCxn id="941" idx="4"/>
            <a:endCxn id="942" idx="4"/>
          </p:cNvCxnSpPr>
          <p:nvPr/>
        </p:nvCxnSpPr>
        <p:spPr>
          <a:xfrm flipH="1" rot="5400000">
            <a:off x="6222420" y="4186927"/>
            <a:ext cx="111900" cy="1011900"/>
          </a:xfrm>
          <a:prstGeom prst="curvedConnector3">
            <a:avLst>
              <a:gd fmla="val -282081" name="adj1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48" name="Google Shape;948;p61"/>
          <p:cNvSpPr txBox="1"/>
          <p:nvPr/>
        </p:nvSpPr>
        <p:spPr>
          <a:xfrm rot="233031">
            <a:off x="6114454" y="4592432"/>
            <a:ext cx="327753" cy="384886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61"/>
          <p:cNvSpPr txBox="1"/>
          <p:nvPr/>
        </p:nvSpPr>
        <p:spPr>
          <a:xfrm rot="-2313">
            <a:off x="6095333" y="4067795"/>
            <a:ext cx="445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3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3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3">
              <a:solidFill>
                <a:srgbClr val="9900FF"/>
              </a:solidFill>
            </a:endParaRPr>
          </a:p>
        </p:txBody>
      </p:sp>
      <p:cxnSp>
        <p:nvCxnSpPr>
          <p:cNvPr id="950" name="Google Shape;950;p61"/>
          <p:cNvCxnSpPr>
            <a:stCxn id="939" idx="1"/>
            <a:endCxn id="935" idx="4"/>
          </p:cNvCxnSpPr>
          <p:nvPr/>
        </p:nvCxnSpPr>
        <p:spPr>
          <a:xfrm rot="10800000">
            <a:off x="5439187" y="1852809"/>
            <a:ext cx="313200" cy="7782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1" name="Google Shape;951;p61"/>
          <p:cNvSpPr txBox="1"/>
          <p:nvPr/>
        </p:nvSpPr>
        <p:spPr>
          <a:xfrm rot="-643139">
            <a:off x="4798735" y="2121646"/>
            <a:ext cx="467762" cy="431107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2" name="Google Shape;952;p61"/>
          <p:cNvCxnSpPr>
            <a:stCxn id="936" idx="3"/>
            <a:endCxn id="939" idx="7"/>
          </p:cNvCxnSpPr>
          <p:nvPr/>
        </p:nvCxnSpPr>
        <p:spPr>
          <a:xfrm flipH="1">
            <a:off x="6159962" y="2015857"/>
            <a:ext cx="1017300" cy="615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61"/>
          <p:cNvCxnSpPr>
            <a:stCxn id="936" idx="4"/>
            <a:endCxn id="940" idx="7"/>
          </p:cNvCxnSpPr>
          <p:nvPr/>
        </p:nvCxnSpPr>
        <p:spPr>
          <a:xfrm flipH="1">
            <a:off x="6842020" y="2104252"/>
            <a:ext cx="539100" cy="6456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4" name="Google Shape;954;p61"/>
          <p:cNvSpPr txBox="1"/>
          <p:nvPr/>
        </p:nvSpPr>
        <p:spPr>
          <a:xfrm rot="-643139">
            <a:off x="6278235" y="1809008"/>
            <a:ext cx="467762" cy="431107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61"/>
          <p:cNvSpPr txBox="1"/>
          <p:nvPr/>
        </p:nvSpPr>
        <p:spPr>
          <a:xfrm rot="-2558062">
            <a:off x="7118778" y="2411948"/>
            <a:ext cx="323777" cy="384721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61"/>
          <p:cNvSpPr txBox="1"/>
          <p:nvPr/>
        </p:nvSpPr>
        <p:spPr>
          <a:xfrm rot="-3408098">
            <a:off x="7256780" y="2109898"/>
            <a:ext cx="445995" cy="20519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957" name="Google Shape;957;p61"/>
          <p:cNvSpPr txBox="1"/>
          <p:nvPr/>
        </p:nvSpPr>
        <p:spPr>
          <a:xfrm rot="249914">
            <a:off x="6187185" y="1351171"/>
            <a:ext cx="446078" cy="205149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3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2"/>
          <p:cNvSpPr/>
          <p:nvPr/>
        </p:nvSpPr>
        <p:spPr>
          <a:xfrm>
            <a:off x="5202950" y="3419535"/>
            <a:ext cx="2279400" cy="1734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7376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2"/>
          <p:cNvSpPr/>
          <p:nvPr/>
        </p:nvSpPr>
        <p:spPr>
          <a:xfrm>
            <a:off x="6431997" y="4042562"/>
            <a:ext cx="7467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64" name="Google Shape;964;p62"/>
          <p:cNvSpPr/>
          <p:nvPr/>
        </p:nvSpPr>
        <p:spPr>
          <a:xfrm>
            <a:off x="5398975" y="3947775"/>
            <a:ext cx="7467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65" name="Google Shape;965;p62"/>
          <p:cNvSpPr/>
          <p:nvPr/>
        </p:nvSpPr>
        <p:spPr>
          <a:xfrm>
            <a:off x="6940575" y="1413354"/>
            <a:ext cx="8676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66" name="Google Shape;966;p62"/>
          <p:cNvSpPr/>
          <p:nvPr/>
        </p:nvSpPr>
        <p:spPr>
          <a:xfrm>
            <a:off x="5012275" y="1174304"/>
            <a:ext cx="867600" cy="778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00" lIns="57300" spcFirstLastPara="1" rIns="57300" wrap="square" tIns="5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77">
              <a:solidFill>
                <a:schemeClr val="dk1"/>
              </a:solidFill>
            </a:endParaRPr>
          </a:p>
        </p:txBody>
      </p:sp>
      <p:sp>
        <p:nvSpPr>
          <p:cNvPr id="967" name="Google Shape;967;p62"/>
          <p:cNvSpPr/>
          <p:nvPr/>
        </p:nvSpPr>
        <p:spPr>
          <a:xfrm rot="849435">
            <a:off x="5517058" y="2443773"/>
            <a:ext cx="1550388" cy="913003"/>
          </a:xfrm>
          <a:prstGeom prst="ellipse">
            <a:avLst/>
          </a:prstGeom>
          <a:solidFill>
            <a:schemeClr val="lt2"/>
          </a:solidFill>
          <a:ln cap="flat" cmpd="sng" w="222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636">
              <a:solidFill>
                <a:schemeClr val="dk1"/>
              </a:solidFill>
            </a:endParaRPr>
          </a:p>
        </p:txBody>
      </p:sp>
      <p:sp>
        <p:nvSpPr>
          <p:cNvPr id="968" name="Google Shape;968;p62"/>
          <p:cNvSpPr txBox="1"/>
          <p:nvPr>
            <p:ph idx="1" type="subTitle"/>
          </p:nvPr>
        </p:nvSpPr>
        <p:spPr>
          <a:xfrm>
            <a:off x="254300" y="136075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Problems with the Existing Heuristic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9" name="Google Shape;969;p62"/>
          <p:cNvGraphicFramePr/>
          <p:nvPr/>
        </p:nvGraphicFramePr>
        <p:xfrm>
          <a:off x="164525" y="58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1207100"/>
                <a:gridCol w="1207100"/>
                <a:gridCol w="1207100"/>
              </a:tblGrid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0" name="Google Shape;970;p62"/>
          <p:cNvGraphicFramePr/>
          <p:nvPr/>
        </p:nvGraphicFramePr>
        <p:xfrm>
          <a:off x="1249648" y="3037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592800"/>
                <a:gridCol w="698200"/>
              </a:tblGrid>
              <a:tr h="26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1" name="Google Shape;971;p62"/>
          <p:cNvSpPr/>
          <p:nvPr/>
        </p:nvSpPr>
        <p:spPr>
          <a:xfrm>
            <a:off x="5151020" y="124917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62"/>
          <p:cNvSpPr/>
          <p:nvPr/>
        </p:nvSpPr>
        <p:spPr>
          <a:xfrm>
            <a:off x="7092820" y="1500652"/>
            <a:ext cx="576600" cy="603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62"/>
          <p:cNvSpPr txBox="1"/>
          <p:nvPr/>
        </p:nvSpPr>
        <p:spPr>
          <a:xfrm rot="-2205">
            <a:off x="6278241" y="555598"/>
            <a:ext cx="467700" cy="4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4" name="Google Shape;974;p62"/>
          <p:cNvCxnSpPr>
            <a:stCxn id="971" idx="7"/>
            <a:endCxn id="972" idx="0"/>
          </p:cNvCxnSpPr>
          <p:nvPr/>
        </p:nvCxnSpPr>
        <p:spPr>
          <a:xfrm flipH="1" rot="-5400000">
            <a:off x="6430529" y="550222"/>
            <a:ext cx="163200" cy="1737900"/>
          </a:xfrm>
          <a:prstGeom prst="curvedConnector3">
            <a:avLst>
              <a:gd fmla="val -200074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5" name="Google Shape;975;p62"/>
          <p:cNvSpPr/>
          <p:nvPr/>
        </p:nvSpPr>
        <p:spPr>
          <a:xfrm>
            <a:off x="5667945" y="254261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62"/>
          <p:cNvSpPr/>
          <p:nvPr/>
        </p:nvSpPr>
        <p:spPr>
          <a:xfrm>
            <a:off x="6349920" y="2661464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7" name="Google Shape;977;p62"/>
          <p:cNvSpPr/>
          <p:nvPr/>
        </p:nvSpPr>
        <p:spPr>
          <a:xfrm>
            <a:off x="6496020" y="4145227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62"/>
          <p:cNvSpPr/>
          <p:nvPr/>
        </p:nvSpPr>
        <p:spPr>
          <a:xfrm>
            <a:off x="5484020" y="4033302"/>
            <a:ext cx="576600" cy="603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6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9" name="Google Shape;979;p62"/>
          <p:cNvCxnSpPr>
            <a:stCxn id="978" idx="0"/>
            <a:endCxn id="977" idx="0"/>
          </p:cNvCxnSpPr>
          <p:nvPr/>
        </p:nvCxnSpPr>
        <p:spPr>
          <a:xfrm flipH="1" rot="-5400000">
            <a:off x="6222320" y="3583302"/>
            <a:ext cx="111900" cy="1011900"/>
          </a:xfrm>
          <a:prstGeom prst="curvedConnector3">
            <a:avLst>
              <a:gd fmla="val -259720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0" name="Google Shape;980;p62"/>
          <p:cNvCxnSpPr>
            <a:stCxn id="972" idx="6"/>
            <a:endCxn id="976" idx="6"/>
          </p:cNvCxnSpPr>
          <p:nvPr/>
        </p:nvCxnSpPr>
        <p:spPr>
          <a:xfrm flipH="1">
            <a:off x="6926620" y="1802452"/>
            <a:ext cx="742800" cy="1160700"/>
          </a:xfrm>
          <a:prstGeom prst="curvedConnector3">
            <a:avLst>
              <a:gd fmla="val -32058" name="adj1"/>
            </a:avLst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81" name="Google Shape;981;p62"/>
          <p:cNvSpPr txBox="1"/>
          <p:nvPr/>
        </p:nvSpPr>
        <p:spPr>
          <a:xfrm rot="-2697665">
            <a:off x="7698526" y="2557638"/>
            <a:ext cx="624517" cy="431052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62"/>
          <p:cNvSpPr txBox="1"/>
          <p:nvPr/>
        </p:nvSpPr>
        <p:spPr>
          <a:xfrm rot="1652">
            <a:off x="6727571" y="3497398"/>
            <a:ext cx="624300" cy="415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3" name="Google Shape;983;p62"/>
          <p:cNvCxnSpPr>
            <a:stCxn id="977" idx="4"/>
            <a:endCxn id="978" idx="4"/>
          </p:cNvCxnSpPr>
          <p:nvPr/>
        </p:nvCxnSpPr>
        <p:spPr>
          <a:xfrm flipH="1" rot="5400000">
            <a:off x="6222420" y="4186927"/>
            <a:ext cx="111900" cy="1011900"/>
          </a:xfrm>
          <a:prstGeom prst="curvedConnector3">
            <a:avLst>
              <a:gd fmla="val -282081" name="adj1"/>
            </a:avLst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84" name="Google Shape;984;p62"/>
          <p:cNvSpPr txBox="1"/>
          <p:nvPr/>
        </p:nvSpPr>
        <p:spPr>
          <a:xfrm rot="233031">
            <a:off x="6114454" y="4592432"/>
            <a:ext cx="327753" cy="384886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62"/>
          <p:cNvSpPr txBox="1"/>
          <p:nvPr/>
        </p:nvSpPr>
        <p:spPr>
          <a:xfrm rot="-2313">
            <a:off x="6095333" y="4067795"/>
            <a:ext cx="445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3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3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3">
              <a:solidFill>
                <a:srgbClr val="9900FF"/>
              </a:solidFill>
            </a:endParaRPr>
          </a:p>
        </p:txBody>
      </p:sp>
      <p:cxnSp>
        <p:nvCxnSpPr>
          <p:cNvPr id="986" name="Google Shape;986;p62"/>
          <p:cNvCxnSpPr>
            <a:stCxn id="975" idx="1"/>
            <a:endCxn id="971" idx="4"/>
          </p:cNvCxnSpPr>
          <p:nvPr/>
        </p:nvCxnSpPr>
        <p:spPr>
          <a:xfrm rot="10800000">
            <a:off x="5439187" y="1852809"/>
            <a:ext cx="313200" cy="7782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7" name="Google Shape;987;p62"/>
          <p:cNvSpPr txBox="1"/>
          <p:nvPr/>
        </p:nvSpPr>
        <p:spPr>
          <a:xfrm rot="-643139">
            <a:off x="4798735" y="2121646"/>
            <a:ext cx="467762" cy="431107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8" name="Google Shape;988;p62"/>
          <p:cNvCxnSpPr>
            <a:stCxn id="972" idx="3"/>
            <a:endCxn id="975" idx="7"/>
          </p:cNvCxnSpPr>
          <p:nvPr/>
        </p:nvCxnSpPr>
        <p:spPr>
          <a:xfrm flipH="1">
            <a:off x="6159962" y="2015857"/>
            <a:ext cx="1017300" cy="6153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62"/>
          <p:cNvCxnSpPr>
            <a:stCxn id="972" idx="4"/>
            <a:endCxn id="976" idx="7"/>
          </p:cNvCxnSpPr>
          <p:nvPr/>
        </p:nvCxnSpPr>
        <p:spPr>
          <a:xfrm flipH="1">
            <a:off x="6842020" y="2104252"/>
            <a:ext cx="539100" cy="64560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0" name="Google Shape;990;p62"/>
          <p:cNvSpPr txBox="1"/>
          <p:nvPr/>
        </p:nvSpPr>
        <p:spPr>
          <a:xfrm rot="-643139">
            <a:off x="6278235" y="1809008"/>
            <a:ext cx="467762" cy="431107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62"/>
          <p:cNvSpPr txBox="1"/>
          <p:nvPr/>
        </p:nvSpPr>
        <p:spPr>
          <a:xfrm rot="-2558062">
            <a:off x="7118778" y="2411948"/>
            <a:ext cx="323777" cy="384721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62"/>
          <p:cNvSpPr txBox="1"/>
          <p:nvPr/>
        </p:nvSpPr>
        <p:spPr>
          <a:xfrm rot="-3408098">
            <a:off x="7256780" y="2109898"/>
            <a:ext cx="445995" cy="20519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993" name="Google Shape;993;p62"/>
          <p:cNvSpPr txBox="1"/>
          <p:nvPr/>
        </p:nvSpPr>
        <p:spPr>
          <a:xfrm rot="249914">
            <a:off x="6187185" y="1351171"/>
            <a:ext cx="446078" cy="205149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3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3"/>
          <p:cNvSpPr/>
          <p:nvPr/>
        </p:nvSpPr>
        <p:spPr>
          <a:xfrm>
            <a:off x="4730725" y="2815200"/>
            <a:ext cx="1091100" cy="1206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7376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3"/>
          <p:cNvSpPr/>
          <p:nvPr/>
        </p:nvSpPr>
        <p:spPr>
          <a:xfrm>
            <a:off x="6257553" y="1144287"/>
            <a:ext cx="595500" cy="534000"/>
          </a:xfrm>
          <a:prstGeom prst="ellipse">
            <a:avLst/>
          </a:prstGeom>
          <a:solidFill>
            <a:schemeClr val="lt2"/>
          </a:solidFill>
          <a:ln cap="flat" cmpd="sng" w="130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325" lIns="39325" spcFirstLastPara="1" rIns="39325" wrap="square" tIns="3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2">
              <a:solidFill>
                <a:schemeClr val="dk1"/>
              </a:solidFill>
            </a:endParaRPr>
          </a:p>
        </p:txBody>
      </p:sp>
      <p:sp>
        <p:nvSpPr>
          <p:cNvPr id="1000" name="Google Shape;1000;p63"/>
          <p:cNvSpPr/>
          <p:nvPr/>
        </p:nvSpPr>
        <p:spPr>
          <a:xfrm>
            <a:off x="4934030" y="980210"/>
            <a:ext cx="595500" cy="534000"/>
          </a:xfrm>
          <a:prstGeom prst="ellipse">
            <a:avLst/>
          </a:prstGeom>
          <a:solidFill>
            <a:schemeClr val="lt2"/>
          </a:solidFill>
          <a:ln cap="flat" cmpd="sng" w="130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325" lIns="39325" spcFirstLastPara="1" rIns="39325" wrap="square" tIns="3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2">
              <a:solidFill>
                <a:schemeClr val="dk1"/>
              </a:solidFill>
            </a:endParaRPr>
          </a:p>
        </p:txBody>
      </p:sp>
      <p:sp>
        <p:nvSpPr>
          <p:cNvPr id="1001" name="Google Shape;1001;p63"/>
          <p:cNvSpPr/>
          <p:nvPr/>
        </p:nvSpPr>
        <p:spPr>
          <a:xfrm rot="848755">
            <a:off x="5280469" y="1851437"/>
            <a:ext cx="1064273" cy="626544"/>
          </a:xfrm>
          <a:prstGeom prst="ellipse">
            <a:avLst/>
          </a:prstGeom>
          <a:solidFill>
            <a:schemeClr val="lt2"/>
          </a:solidFill>
          <a:ln cap="flat" cmpd="sng" w="15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25" lIns="73325" spcFirstLastPara="1" rIns="73325" wrap="square" tIns="7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23">
              <a:solidFill>
                <a:schemeClr val="dk1"/>
              </a:solidFill>
            </a:endParaRPr>
          </a:p>
        </p:txBody>
      </p:sp>
      <p:sp>
        <p:nvSpPr>
          <p:cNvPr id="1002" name="Google Shape;1002;p63"/>
          <p:cNvSpPr txBox="1"/>
          <p:nvPr>
            <p:ph idx="1" type="subTitle"/>
          </p:nvPr>
        </p:nvSpPr>
        <p:spPr>
          <a:xfrm>
            <a:off x="244275" y="42050"/>
            <a:ext cx="85206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Problems with the Existing Heuristic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3" name="Google Shape;1003;p63"/>
          <p:cNvGraphicFramePr/>
          <p:nvPr/>
        </p:nvGraphicFramePr>
        <p:xfrm>
          <a:off x="164525" y="58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1207100"/>
                <a:gridCol w="1207100"/>
                <a:gridCol w="1207100"/>
              </a:tblGrid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b="1"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4" name="Google Shape;1004;p63"/>
          <p:cNvGraphicFramePr/>
          <p:nvPr/>
        </p:nvGraphicFramePr>
        <p:xfrm>
          <a:off x="1079198" y="3037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71075"/>
                <a:gridCol w="790375"/>
              </a:tblGrid>
              <a:tr h="26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5" name="Google Shape;1005;p63"/>
          <p:cNvSpPr/>
          <p:nvPr/>
        </p:nvSpPr>
        <p:spPr>
          <a:xfrm>
            <a:off x="5029260" y="1031601"/>
            <a:ext cx="395700" cy="414300"/>
          </a:xfrm>
          <a:prstGeom prst="ellipse">
            <a:avLst/>
          </a:prstGeom>
          <a:solidFill>
            <a:srgbClr val="CFE2F3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9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63"/>
          <p:cNvSpPr/>
          <p:nvPr/>
        </p:nvSpPr>
        <p:spPr>
          <a:xfrm>
            <a:off x="6362050" y="1204206"/>
            <a:ext cx="395700" cy="414300"/>
          </a:xfrm>
          <a:prstGeom prst="ellipse">
            <a:avLst/>
          </a:prstGeom>
          <a:solidFill>
            <a:schemeClr val="accent4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63"/>
          <p:cNvSpPr txBox="1"/>
          <p:nvPr/>
        </p:nvSpPr>
        <p:spPr>
          <a:xfrm rot="-3213">
            <a:off x="5802948" y="555501"/>
            <a:ext cx="321000" cy="295800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8" name="Google Shape;1008;p63"/>
          <p:cNvCxnSpPr>
            <a:stCxn id="1005" idx="7"/>
            <a:endCxn id="1006" idx="0"/>
          </p:cNvCxnSpPr>
          <p:nvPr/>
        </p:nvCxnSpPr>
        <p:spPr>
          <a:xfrm flipH="1" rot="-5400000">
            <a:off x="5907461" y="551823"/>
            <a:ext cx="111900" cy="1192800"/>
          </a:xfrm>
          <a:prstGeom prst="curvedConnector3">
            <a:avLst>
              <a:gd fmla="val -200074" name="adj1"/>
            </a:avLst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09" name="Google Shape;1009;p63"/>
          <p:cNvSpPr/>
          <p:nvPr/>
        </p:nvSpPr>
        <p:spPr>
          <a:xfrm>
            <a:off x="5384061" y="1919379"/>
            <a:ext cx="395700" cy="414300"/>
          </a:xfrm>
          <a:prstGeom prst="ellipse">
            <a:avLst/>
          </a:prstGeom>
          <a:solidFill>
            <a:srgbClr val="CFE2F3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63"/>
          <p:cNvSpPr/>
          <p:nvPr/>
        </p:nvSpPr>
        <p:spPr>
          <a:xfrm>
            <a:off x="5852147" y="2000955"/>
            <a:ext cx="395700" cy="414300"/>
          </a:xfrm>
          <a:prstGeom prst="ellipse">
            <a:avLst/>
          </a:prstGeom>
          <a:solidFill>
            <a:srgbClr val="CFE2F3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1" name="Google Shape;1011;p63"/>
          <p:cNvCxnSpPr>
            <a:stCxn id="1006" idx="6"/>
            <a:endCxn id="1010" idx="6"/>
          </p:cNvCxnSpPr>
          <p:nvPr/>
        </p:nvCxnSpPr>
        <p:spPr>
          <a:xfrm flipH="1">
            <a:off x="6247750" y="1411356"/>
            <a:ext cx="510000" cy="796800"/>
          </a:xfrm>
          <a:prstGeom prst="curvedConnector3">
            <a:avLst>
              <a:gd fmla="val -32058" name="adj1"/>
            </a:avLst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12" name="Google Shape;1012;p63"/>
          <p:cNvSpPr txBox="1"/>
          <p:nvPr/>
        </p:nvSpPr>
        <p:spPr>
          <a:xfrm rot="-2696596">
            <a:off x="6777802" y="1929811"/>
            <a:ext cx="428507" cy="295712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3" name="Google Shape;1013;p63"/>
          <p:cNvCxnSpPr>
            <a:stCxn id="1009" idx="1"/>
            <a:endCxn id="1005" idx="4"/>
          </p:cNvCxnSpPr>
          <p:nvPr/>
        </p:nvCxnSpPr>
        <p:spPr>
          <a:xfrm rot="10800000">
            <a:off x="5227210" y="1445752"/>
            <a:ext cx="214800" cy="534300"/>
          </a:xfrm>
          <a:prstGeom prst="straightConnector1">
            <a:avLst/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4" name="Google Shape;1014;p63"/>
          <p:cNvSpPr txBox="1"/>
          <p:nvPr/>
        </p:nvSpPr>
        <p:spPr>
          <a:xfrm rot="-642702">
            <a:off x="4787427" y="1630453"/>
            <a:ext cx="321197" cy="295839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5" name="Google Shape;1015;p63"/>
          <p:cNvCxnSpPr>
            <a:stCxn id="1006" idx="3"/>
            <a:endCxn id="1009" idx="7"/>
          </p:cNvCxnSpPr>
          <p:nvPr/>
        </p:nvCxnSpPr>
        <p:spPr>
          <a:xfrm flipH="1">
            <a:off x="5721899" y="1557833"/>
            <a:ext cx="698100" cy="422100"/>
          </a:xfrm>
          <a:prstGeom prst="straightConnector1">
            <a:avLst/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3"/>
          <p:cNvCxnSpPr>
            <a:stCxn id="1006" idx="4"/>
            <a:endCxn id="1010" idx="7"/>
          </p:cNvCxnSpPr>
          <p:nvPr/>
        </p:nvCxnSpPr>
        <p:spPr>
          <a:xfrm flipH="1">
            <a:off x="6190000" y="1618506"/>
            <a:ext cx="369900" cy="443100"/>
          </a:xfrm>
          <a:prstGeom prst="straightConnector1">
            <a:avLst/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p63"/>
          <p:cNvSpPr txBox="1"/>
          <p:nvPr/>
        </p:nvSpPr>
        <p:spPr>
          <a:xfrm rot="-642702">
            <a:off x="5802908" y="1415867"/>
            <a:ext cx="321197" cy="295839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63"/>
          <p:cNvSpPr txBox="1"/>
          <p:nvPr/>
        </p:nvSpPr>
        <p:spPr>
          <a:xfrm rot="-2558892">
            <a:off x="6379875" y="1829634"/>
            <a:ext cx="222289" cy="264123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92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892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89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63"/>
          <p:cNvSpPr txBox="1"/>
          <p:nvPr/>
        </p:nvSpPr>
        <p:spPr>
          <a:xfrm rot="-3407555">
            <a:off x="6474496" y="1622402"/>
            <a:ext cx="306205" cy="140621"/>
          </a:xfrm>
          <a:prstGeom prst="rect">
            <a:avLst/>
          </a:prstGeom>
          <a:noFill/>
          <a:ln>
            <a:noFill/>
          </a:ln>
        </p:spPr>
        <p:txBody>
          <a:bodyPr anchorCtr="0" anchor="t" bIns="73325" lIns="73325" spcFirstLastPara="1" rIns="73325" wrap="square" tIns="73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62"/>
              </a:spcAft>
              <a:buNone/>
            </a:pPr>
            <a:r>
              <a:rPr lang="en" sz="1283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83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44">
              <a:solidFill>
                <a:srgbClr val="9900FF"/>
              </a:solidFill>
            </a:endParaRPr>
          </a:p>
        </p:txBody>
      </p:sp>
      <p:sp>
        <p:nvSpPr>
          <p:cNvPr id="1020" name="Google Shape;1020;p63"/>
          <p:cNvSpPr txBox="1"/>
          <p:nvPr/>
        </p:nvSpPr>
        <p:spPr>
          <a:xfrm rot="249456">
            <a:off x="5740350" y="1101579"/>
            <a:ext cx="306206" cy="140792"/>
          </a:xfrm>
          <a:prstGeom prst="rect">
            <a:avLst/>
          </a:prstGeom>
          <a:noFill/>
          <a:ln>
            <a:noFill/>
          </a:ln>
        </p:spPr>
        <p:txBody>
          <a:bodyPr anchorCtr="0" anchor="t" bIns="73325" lIns="73325" spcFirstLastPara="1" rIns="73325" wrap="square" tIns="73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62"/>
              </a:spcAft>
              <a:buNone/>
            </a:pPr>
            <a:r>
              <a:rPr lang="en" sz="1283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283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44">
              <a:solidFill>
                <a:srgbClr val="9900FF"/>
              </a:solidFill>
            </a:endParaRPr>
          </a:p>
        </p:txBody>
      </p:sp>
      <p:pic>
        <p:nvPicPr>
          <p:cNvPr id="1021" name="Google Shape;1021;p63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637" y="2598745"/>
            <a:ext cx="305804" cy="305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63"/>
          <p:cNvSpPr txBox="1"/>
          <p:nvPr/>
        </p:nvSpPr>
        <p:spPr>
          <a:xfrm>
            <a:off x="6057750" y="2536850"/>
            <a:ext cx="11397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Resolve C</a:t>
            </a:r>
            <a:r>
              <a:rPr baseline="-25000" lang="en" sz="1300">
                <a:solidFill>
                  <a:schemeClr val="dk2"/>
                </a:solidFill>
              </a:rPr>
              <a:t>1</a:t>
            </a:r>
            <a:endParaRPr baseline="-25000" sz="1300">
              <a:solidFill>
                <a:schemeClr val="dk2"/>
              </a:solidFill>
            </a:endParaRPr>
          </a:p>
        </p:txBody>
      </p:sp>
      <p:sp>
        <p:nvSpPr>
          <p:cNvPr id="1023" name="Google Shape;1023;p63"/>
          <p:cNvSpPr/>
          <p:nvPr/>
        </p:nvSpPr>
        <p:spPr>
          <a:xfrm>
            <a:off x="4978517" y="3433710"/>
            <a:ext cx="595500" cy="534000"/>
          </a:xfrm>
          <a:prstGeom prst="ellipse">
            <a:avLst/>
          </a:prstGeom>
          <a:solidFill>
            <a:schemeClr val="lt2"/>
          </a:solidFill>
          <a:ln cap="flat" cmpd="sng" w="130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325" lIns="39325" spcFirstLastPara="1" rIns="39325" wrap="square" tIns="3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602">
              <a:solidFill>
                <a:schemeClr val="dk1"/>
              </a:solidFill>
            </a:endParaRPr>
          </a:p>
        </p:txBody>
      </p:sp>
      <p:sp>
        <p:nvSpPr>
          <p:cNvPr id="1024" name="Google Shape;1024;p63"/>
          <p:cNvSpPr/>
          <p:nvPr/>
        </p:nvSpPr>
        <p:spPr>
          <a:xfrm rot="848755">
            <a:off x="5324956" y="4304937"/>
            <a:ext cx="1064273" cy="626544"/>
          </a:xfrm>
          <a:prstGeom prst="ellipse">
            <a:avLst/>
          </a:prstGeom>
          <a:solidFill>
            <a:schemeClr val="lt2"/>
          </a:solidFill>
          <a:ln cap="flat" cmpd="sng" w="1527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25" lIns="73325" spcFirstLastPara="1" rIns="73325" wrap="square" tIns="7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23">
              <a:solidFill>
                <a:schemeClr val="dk1"/>
              </a:solidFill>
            </a:endParaRPr>
          </a:p>
        </p:txBody>
      </p:sp>
      <p:sp>
        <p:nvSpPr>
          <p:cNvPr id="1025" name="Google Shape;1025;p63"/>
          <p:cNvSpPr/>
          <p:nvPr/>
        </p:nvSpPr>
        <p:spPr>
          <a:xfrm>
            <a:off x="5073748" y="3485101"/>
            <a:ext cx="395700" cy="414300"/>
          </a:xfrm>
          <a:prstGeom prst="ellipse">
            <a:avLst/>
          </a:prstGeom>
          <a:solidFill>
            <a:srgbClr val="CFE2F3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9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63"/>
          <p:cNvSpPr/>
          <p:nvPr/>
        </p:nvSpPr>
        <p:spPr>
          <a:xfrm>
            <a:off x="5428549" y="4372879"/>
            <a:ext cx="395700" cy="414300"/>
          </a:xfrm>
          <a:prstGeom prst="ellipse">
            <a:avLst/>
          </a:prstGeom>
          <a:solidFill>
            <a:srgbClr val="CFE2F3"/>
          </a:solidFill>
          <a:ln cap="flat" cmpd="sng" w="1307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50" lIns="62750" spcFirstLastPara="1" rIns="62750" wrap="square" tIns="6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098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7" name="Google Shape;1027;p63"/>
          <p:cNvCxnSpPr>
            <a:stCxn id="1026" idx="1"/>
            <a:endCxn id="1025" idx="4"/>
          </p:cNvCxnSpPr>
          <p:nvPr/>
        </p:nvCxnSpPr>
        <p:spPr>
          <a:xfrm rot="10800000">
            <a:off x="5271698" y="3899252"/>
            <a:ext cx="214800" cy="534300"/>
          </a:xfrm>
          <a:prstGeom prst="straightConnector1">
            <a:avLst/>
          </a:prstGeom>
          <a:noFill/>
          <a:ln cap="flat" cmpd="sng" w="130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8" name="Google Shape;1028;p63"/>
          <p:cNvSpPr txBox="1"/>
          <p:nvPr/>
        </p:nvSpPr>
        <p:spPr>
          <a:xfrm rot="-642702">
            <a:off x="4911197" y="4093863"/>
            <a:ext cx="321197" cy="295839"/>
          </a:xfrm>
          <a:prstGeom prst="rect">
            <a:avLst/>
          </a:prstGeom>
          <a:noFill/>
          <a:ln cap="flat" cmpd="sng" w="13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750" lIns="62750" spcFirstLastPara="1" rIns="62750" wrap="square" tIns="62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98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0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9" name="Google Shape;1029;p63"/>
          <p:cNvCxnSpPr/>
          <p:nvPr/>
        </p:nvCxnSpPr>
        <p:spPr>
          <a:xfrm flipH="1" rot="-5400000">
            <a:off x="5256159" y="3308450"/>
            <a:ext cx="600" cy="273300"/>
          </a:xfrm>
          <a:prstGeom prst="curvedConnector3">
            <a:avLst>
              <a:gd fmla="val -93030621" name="adj1"/>
            </a:avLst>
          </a:prstGeom>
          <a:noFill/>
          <a:ln cap="flat" cmpd="sng" w="12775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4"/>
          <p:cNvSpPr/>
          <p:nvPr/>
        </p:nvSpPr>
        <p:spPr>
          <a:xfrm>
            <a:off x="483588" y="2646039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035" name="Google Shape;1035;p64"/>
          <p:cNvSpPr/>
          <p:nvPr/>
        </p:nvSpPr>
        <p:spPr>
          <a:xfrm>
            <a:off x="553919" y="2773147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64"/>
          <p:cNvSpPr/>
          <p:nvPr/>
        </p:nvSpPr>
        <p:spPr>
          <a:xfrm>
            <a:off x="1071586" y="2754062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64"/>
          <p:cNvSpPr/>
          <p:nvPr/>
        </p:nvSpPr>
        <p:spPr>
          <a:xfrm>
            <a:off x="533700" y="970623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038" name="Google Shape;1038;p64"/>
          <p:cNvSpPr/>
          <p:nvPr/>
        </p:nvSpPr>
        <p:spPr>
          <a:xfrm>
            <a:off x="2868675" y="84802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39" name="Google Shape;1039;p64"/>
          <p:cNvSpPr txBox="1"/>
          <p:nvPr/>
        </p:nvSpPr>
        <p:spPr>
          <a:xfrm>
            <a:off x="656975" y="3441312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64"/>
          <p:cNvSpPr/>
          <p:nvPr/>
        </p:nvSpPr>
        <p:spPr>
          <a:xfrm>
            <a:off x="3158165" y="969791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64"/>
          <p:cNvSpPr txBox="1"/>
          <p:nvPr/>
        </p:nvSpPr>
        <p:spPr>
          <a:xfrm>
            <a:off x="3960266" y="104644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64"/>
          <p:cNvSpPr/>
          <p:nvPr/>
        </p:nvSpPr>
        <p:spPr>
          <a:xfrm>
            <a:off x="860486" y="1090472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64"/>
          <p:cNvSpPr txBox="1"/>
          <p:nvPr/>
        </p:nvSpPr>
        <p:spPr>
          <a:xfrm>
            <a:off x="219564" y="1704751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4" name="Google Shape;1044;p64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5" name="Google Shape;1045;p64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6" name="Google Shape;1046;p64"/>
          <p:cNvSpPr/>
          <p:nvPr/>
        </p:nvSpPr>
        <p:spPr>
          <a:xfrm>
            <a:off x="2618001" y="393227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47" name="Google Shape;1047;p64"/>
          <p:cNvSpPr/>
          <p:nvPr/>
        </p:nvSpPr>
        <p:spPr>
          <a:xfrm>
            <a:off x="2907491" y="4054041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64"/>
          <p:cNvSpPr txBox="1"/>
          <p:nvPr/>
        </p:nvSpPr>
        <p:spPr>
          <a:xfrm>
            <a:off x="2863068" y="462924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64"/>
          <p:cNvSpPr/>
          <p:nvPr/>
        </p:nvSpPr>
        <p:spPr>
          <a:xfrm>
            <a:off x="1747126" y="43550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50" name="Google Shape;1050;p64"/>
          <p:cNvSpPr/>
          <p:nvPr/>
        </p:nvSpPr>
        <p:spPr>
          <a:xfrm>
            <a:off x="2036616" y="165316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64"/>
          <p:cNvSpPr txBox="1"/>
          <p:nvPr/>
        </p:nvSpPr>
        <p:spPr>
          <a:xfrm>
            <a:off x="2818693" y="22639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64"/>
          <p:cNvSpPr/>
          <p:nvPr/>
        </p:nvSpPr>
        <p:spPr>
          <a:xfrm>
            <a:off x="297576" y="387837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587066" y="4000141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64"/>
          <p:cNvSpPr txBox="1"/>
          <p:nvPr/>
        </p:nvSpPr>
        <p:spPr>
          <a:xfrm>
            <a:off x="542643" y="4615450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5" name="Google Shape;1055;p64"/>
          <p:cNvCxnSpPr>
            <a:stCxn id="1042" idx="6"/>
            <a:endCxn id="1040" idx="2"/>
          </p:cNvCxnSpPr>
          <p:nvPr/>
        </p:nvCxnSpPr>
        <p:spPr>
          <a:xfrm flipH="1" rot="10800000">
            <a:off x="1339886" y="1192022"/>
            <a:ext cx="1818300" cy="14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64"/>
          <p:cNvCxnSpPr>
            <a:stCxn id="1035" idx="0"/>
            <a:endCxn id="1042" idx="4"/>
          </p:cNvCxnSpPr>
          <p:nvPr/>
        </p:nvCxnSpPr>
        <p:spPr>
          <a:xfrm flipH="1" rot="10800000">
            <a:off x="793619" y="1592347"/>
            <a:ext cx="306600" cy="11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64"/>
          <p:cNvCxnSpPr>
            <a:stCxn id="1040" idx="3"/>
            <a:endCxn id="1036" idx="6"/>
          </p:cNvCxnSpPr>
          <p:nvPr/>
        </p:nvCxnSpPr>
        <p:spPr>
          <a:xfrm flipH="1">
            <a:off x="1550875" y="1349281"/>
            <a:ext cx="1669500" cy="165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8" name="Google Shape;1058;p64"/>
          <p:cNvCxnSpPr>
            <a:stCxn id="1040" idx="2"/>
            <a:endCxn id="1035" idx="0"/>
          </p:cNvCxnSpPr>
          <p:nvPr/>
        </p:nvCxnSpPr>
        <p:spPr>
          <a:xfrm flipH="1">
            <a:off x="793565" y="1192091"/>
            <a:ext cx="2364600" cy="158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64"/>
          <p:cNvCxnSpPr>
            <a:stCxn id="1036" idx="6"/>
            <a:endCxn id="1040" idx="3"/>
          </p:cNvCxnSpPr>
          <p:nvPr/>
        </p:nvCxnSpPr>
        <p:spPr>
          <a:xfrm flipH="1" rot="10800000">
            <a:off x="1550986" y="1349312"/>
            <a:ext cx="1669500" cy="16557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0" name="Google Shape;1060;p64"/>
          <p:cNvCxnSpPr>
            <a:stCxn id="1047" idx="2"/>
            <a:endCxn id="1053" idx="6"/>
          </p:cNvCxnSpPr>
          <p:nvPr/>
        </p:nvCxnSpPr>
        <p:spPr>
          <a:xfrm rot="10800000">
            <a:off x="1011791" y="4222341"/>
            <a:ext cx="1895700" cy="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1" name="Google Shape;1061;p64"/>
          <p:cNvCxnSpPr>
            <a:stCxn id="1053" idx="0"/>
            <a:endCxn id="1047" idx="0"/>
          </p:cNvCxnSpPr>
          <p:nvPr/>
        </p:nvCxnSpPr>
        <p:spPr>
          <a:xfrm flipH="1" rot="-5400000">
            <a:off x="1932716" y="2866891"/>
            <a:ext cx="54000" cy="2320500"/>
          </a:xfrm>
          <a:prstGeom prst="curvedConnector3">
            <a:avLst>
              <a:gd fmla="val -7605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2" name="Google Shape;1062;p64"/>
          <p:cNvCxnSpPr>
            <a:stCxn id="1050" idx="3"/>
            <a:endCxn id="1042" idx="7"/>
          </p:cNvCxnSpPr>
          <p:nvPr/>
        </p:nvCxnSpPr>
        <p:spPr>
          <a:xfrm flipH="1">
            <a:off x="1269626" y="544806"/>
            <a:ext cx="829200" cy="6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3" name="Google Shape;1063;p64"/>
          <p:cNvSpPr txBox="1"/>
          <p:nvPr/>
        </p:nvSpPr>
        <p:spPr>
          <a:xfrm rot="-2209419">
            <a:off x="1356878" y="1624649"/>
            <a:ext cx="445980" cy="20532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064" name="Google Shape;1064;p64"/>
          <p:cNvSpPr txBox="1"/>
          <p:nvPr/>
        </p:nvSpPr>
        <p:spPr>
          <a:xfrm rot="2495516">
            <a:off x="2287966" y="2213860"/>
            <a:ext cx="446054" cy="205289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065" name="Google Shape;1065;p64"/>
          <p:cNvSpPr txBox="1"/>
          <p:nvPr/>
        </p:nvSpPr>
        <p:spPr>
          <a:xfrm rot="2312">
            <a:off x="1736629" y="3719001"/>
            <a:ext cx="446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03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5"/>
          <p:cNvSpPr/>
          <p:nvPr/>
        </p:nvSpPr>
        <p:spPr>
          <a:xfrm>
            <a:off x="483588" y="2646039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071" name="Google Shape;1071;p65"/>
          <p:cNvSpPr/>
          <p:nvPr/>
        </p:nvSpPr>
        <p:spPr>
          <a:xfrm>
            <a:off x="553919" y="2773147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65"/>
          <p:cNvSpPr/>
          <p:nvPr/>
        </p:nvSpPr>
        <p:spPr>
          <a:xfrm>
            <a:off x="1071586" y="2754062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65"/>
          <p:cNvSpPr/>
          <p:nvPr/>
        </p:nvSpPr>
        <p:spPr>
          <a:xfrm>
            <a:off x="533700" y="970623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074" name="Google Shape;1074;p65"/>
          <p:cNvSpPr/>
          <p:nvPr/>
        </p:nvSpPr>
        <p:spPr>
          <a:xfrm>
            <a:off x="2868675" y="84802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75" name="Google Shape;1075;p65"/>
          <p:cNvSpPr txBox="1"/>
          <p:nvPr/>
        </p:nvSpPr>
        <p:spPr>
          <a:xfrm>
            <a:off x="656975" y="3441312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65"/>
          <p:cNvSpPr/>
          <p:nvPr/>
        </p:nvSpPr>
        <p:spPr>
          <a:xfrm>
            <a:off x="3158165" y="969791"/>
            <a:ext cx="424800" cy="444600"/>
          </a:xfrm>
          <a:prstGeom prst="ellipse">
            <a:avLst/>
          </a:prstGeom>
          <a:solidFill>
            <a:srgbClr val="93C47D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65"/>
          <p:cNvSpPr txBox="1"/>
          <p:nvPr/>
        </p:nvSpPr>
        <p:spPr>
          <a:xfrm>
            <a:off x="3960266" y="104644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65"/>
          <p:cNvSpPr/>
          <p:nvPr/>
        </p:nvSpPr>
        <p:spPr>
          <a:xfrm>
            <a:off x="860486" y="1090472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65"/>
          <p:cNvSpPr txBox="1"/>
          <p:nvPr/>
        </p:nvSpPr>
        <p:spPr>
          <a:xfrm>
            <a:off x="219564" y="1704751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0" name="Google Shape;1080;p65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1" name="Google Shape;1081;p65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2" name="Google Shape;1082;p65"/>
          <p:cNvSpPr/>
          <p:nvPr/>
        </p:nvSpPr>
        <p:spPr>
          <a:xfrm>
            <a:off x="2618001" y="393227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83" name="Google Shape;1083;p65"/>
          <p:cNvSpPr/>
          <p:nvPr/>
        </p:nvSpPr>
        <p:spPr>
          <a:xfrm>
            <a:off x="2907491" y="4054041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65"/>
          <p:cNvSpPr txBox="1"/>
          <p:nvPr/>
        </p:nvSpPr>
        <p:spPr>
          <a:xfrm>
            <a:off x="2863068" y="462924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65"/>
          <p:cNvSpPr/>
          <p:nvPr/>
        </p:nvSpPr>
        <p:spPr>
          <a:xfrm>
            <a:off x="1747126" y="43550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86" name="Google Shape;1086;p65"/>
          <p:cNvSpPr/>
          <p:nvPr/>
        </p:nvSpPr>
        <p:spPr>
          <a:xfrm>
            <a:off x="2036616" y="165316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65"/>
          <p:cNvSpPr txBox="1"/>
          <p:nvPr/>
        </p:nvSpPr>
        <p:spPr>
          <a:xfrm>
            <a:off x="2818693" y="22639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65"/>
          <p:cNvSpPr/>
          <p:nvPr/>
        </p:nvSpPr>
        <p:spPr>
          <a:xfrm>
            <a:off x="297576" y="3878375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089" name="Google Shape;1089;p65"/>
          <p:cNvSpPr/>
          <p:nvPr/>
        </p:nvSpPr>
        <p:spPr>
          <a:xfrm>
            <a:off x="587066" y="4000141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0" name="Google Shape;1090;p65"/>
          <p:cNvSpPr txBox="1"/>
          <p:nvPr/>
        </p:nvSpPr>
        <p:spPr>
          <a:xfrm>
            <a:off x="542643" y="4615450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1" name="Google Shape;1091;p65"/>
          <p:cNvCxnSpPr>
            <a:stCxn id="1078" idx="6"/>
            <a:endCxn id="1076" idx="2"/>
          </p:cNvCxnSpPr>
          <p:nvPr/>
        </p:nvCxnSpPr>
        <p:spPr>
          <a:xfrm flipH="1" rot="10800000">
            <a:off x="1339886" y="1192022"/>
            <a:ext cx="1818300" cy="14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65"/>
          <p:cNvCxnSpPr>
            <a:stCxn id="1071" idx="0"/>
            <a:endCxn id="1078" idx="4"/>
          </p:cNvCxnSpPr>
          <p:nvPr/>
        </p:nvCxnSpPr>
        <p:spPr>
          <a:xfrm flipH="1" rot="10800000">
            <a:off x="793619" y="1592347"/>
            <a:ext cx="306600" cy="11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65"/>
          <p:cNvCxnSpPr>
            <a:stCxn id="1076" idx="3"/>
            <a:endCxn id="1072" idx="6"/>
          </p:cNvCxnSpPr>
          <p:nvPr/>
        </p:nvCxnSpPr>
        <p:spPr>
          <a:xfrm flipH="1">
            <a:off x="1550875" y="1349281"/>
            <a:ext cx="1669500" cy="165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4" name="Google Shape;1094;p65"/>
          <p:cNvCxnSpPr>
            <a:stCxn id="1076" idx="2"/>
            <a:endCxn id="1071" idx="0"/>
          </p:cNvCxnSpPr>
          <p:nvPr/>
        </p:nvCxnSpPr>
        <p:spPr>
          <a:xfrm flipH="1">
            <a:off x="793565" y="1192091"/>
            <a:ext cx="2364600" cy="158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65"/>
          <p:cNvCxnSpPr>
            <a:stCxn id="1072" idx="6"/>
            <a:endCxn id="1076" idx="3"/>
          </p:cNvCxnSpPr>
          <p:nvPr/>
        </p:nvCxnSpPr>
        <p:spPr>
          <a:xfrm flipH="1" rot="10800000">
            <a:off x="1550986" y="1349312"/>
            <a:ext cx="1669500" cy="16557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6" name="Google Shape;1096;p65"/>
          <p:cNvCxnSpPr>
            <a:stCxn id="1083" idx="2"/>
            <a:endCxn id="1089" idx="6"/>
          </p:cNvCxnSpPr>
          <p:nvPr/>
        </p:nvCxnSpPr>
        <p:spPr>
          <a:xfrm rot="10800000">
            <a:off x="1011791" y="4222341"/>
            <a:ext cx="1895700" cy="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65"/>
          <p:cNvCxnSpPr>
            <a:stCxn id="1089" idx="0"/>
            <a:endCxn id="1083" idx="0"/>
          </p:cNvCxnSpPr>
          <p:nvPr/>
        </p:nvCxnSpPr>
        <p:spPr>
          <a:xfrm flipH="1" rot="-5400000">
            <a:off x="1932716" y="2866891"/>
            <a:ext cx="54000" cy="2320500"/>
          </a:xfrm>
          <a:prstGeom prst="curvedConnector3">
            <a:avLst>
              <a:gd fmla="val -7605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8" name="Google Shape;1098;p65"/>
          <p:cNvCxnSpPr>
            <a:stCxn id="1086" idx="3"/>
            <a:endCxn id="1078" idx="7"/>
          </p:cNvCxnSpPr>
          <p:nvPr/>
        </p:nvCxnSpPr>
        <p:spPr>
          <a:xfrm flipH="1">
            <a:off x="1269626" y="544806"/>
            <a:ext cx="829200" cy="6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9" name="Google Shape;1099;p65"/>
          <p:cNvSpPr txBox="1"/>
          <p:nvPr/>
        </p:nvSpPr>
        <p:spPr>
          <a:xfrm rot="-2209419">
            <a:off x="1356878" y="1624649"/>
            <a:ext cx="445980" cy="20532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00" name="Google Shape;1100;p65"/>
          <p:cNvSpPr txBox="1"/>
          <p:nvPr/>
        </p:nvSpPr>
        <p:spPr>
          <a:xfrm rot="2495516">
            <a:off x="2287966" y="2213860"/>
            <a:ext cx="446054" cy="205289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01" name="Google Shape;1101;p65"/>
          <p:cNvSpPr txBox="1"/>
          <p:nvPr/>
        </p:nvSpPr>
        <p:spPr>
          <a:xfrm rot="2312">
            <a:off x="1736629" y="3719001"/>
            <a:ext cx="446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02" name="Google Shape;1102;p65"/>
          <p:cNvSpPr txBox="1"/>
          <p:nvPr/>
        </p:nvSpPr>
        <p:spPr>
          <a:xfrm>
            <a:off x="2870787" y="2316309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3" name="Google Shape;1103;p65"/>
          <p:cNvSpPr txBox="1"/>
          <p:nvPr/>
        </p:nvSpPr>
        <p:spPr>
          <a:xfrm rot="-355225">
            <a:off x="1767322" y="781815"/>
            <a:ext cx="1239009" cy="4617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6"/>
          <p:cNvSpPr/>
          <p:nvPr/>
        </p:nvSpPr>
        <p:spPr>
          <a:xfrm>
            <a:off x="523694" y="2646039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109" name="Google Shape;1109;p66"/>
          <p:cNvSpPr/>
          <p:nvPr/>
        </p:nvSpPr>
        <p:spPr>
          <a:xfrm>
            <a:off x="840523" y="2765897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p66"/>
          <p:cNvSpPr/>
          <p:nvPr/>
        </p:nvSpPr>
        <p:spPr>
          <a:xfrm>
            <a:off x="533700" y="970623"/>
            <a:ext cx="1133100" cy="741600"/>
          </a:xfrm>
          <a:prstGeom prst="ellipse">
            <a:avLst/>
          </a:prstGeom>
          <a:solidFill>
            <a:schemeClr val="lt2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64">
              <a:solidFill>
                <a:schemeClr val="dk1"/>
              </a:solidFill>
            </a:endParaRPr>
          </a:p>
        </p:txBody>
      </p:sp>
      <p:sp>
        <p:nvSpPr>
          <p:cNvPr id="1111" name="Google Shape;1111;p66"/>
          <p:cNvSpPr/>
          <p:nvPr/>
        </p:nvSpPr>
        <p:spPr>
          <a:xfrm>
            <a:off x="860486" y="1090472"/>
            <a:ext cx="479400" cy="501900"/>
          </a:xfrm>
          <a:prstGeom prst="ellipse">
            <a:avLst/>
          </a:prstGeom>
          <a:solidFill>
            <a:srgbClr val="CFE2F3"/>
          </a:solidFill>
          <a:ln cap="flat" cmpd="sng" w="158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9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449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4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66"/>
          <p:cNvSpPr txBox="1"/>
          <p:nvPr/>
        </p:nvSpPr>
        <p:spPr>
          <a:xfrm>
            <a:off x="1209939" y="1740626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13" name="Google Shape;1113;p66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4" name="Google Shape;1114;p66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5" name="Google Shape;1115;p66"/>
          <p:cNvSpPr/>
          <p:nvPr/>
        </p:nvSpPr>
        <p:spPr>
          <a:xfrm>
            <a:off x="1747126" y="43550"/>
            <a:ext cx="1003800" cy="657000"/>
          </a:xfrm>
          <a:prstGeom prst="ellipse">
            <a:avLst/>
          </a:prstGeom>
          <a:solidFill>
            <a:schemeClr val="lt2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031">
              <a:solidFill>
                <a:schemeClr val="dk1"/>
              </a:solidFill>
            </a:endParaRPr>
          </a:p>
        </p:txBody>
      </p:sp>
      <p:sp>
        <p:nvSpPr>
          <p:cNvPr id="1116" name="Google Shape;1116;p66"/>
          <p:cNvSpPr/>
          <p:nvPr/>
        </p:nvSpPr>
        <p:spPr>
          <a:xfrm>
            <a:off x="2036616" y="165316"/>
            <a:ext cx="424800" cy="444600"/>
          </a:xfrm>
          <a:prstGeom prst="ellipse">
            <a:avLst/>
          </a:prstGeom>
          <a:solidFill>
            <a:srgbClr val="CFE2F3"/>
          </a:solidFill>
          <a:ln cap="flat" cmpd="sng" w="140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350" lIns="67350" spcFirstLastPara="1" rIns="67350" wrap="square" tIns="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3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283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28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17" name="Google Shape;1117;p66"/>
          <p:cNvCxnSpPr>
            <a:stCxn id="1109" idx="0"/>
            <a:endCxn id="1111" idx="4"/>
          </p:cNvCxnSpPr>
          <p:nvPr/>
        </p:nvCxnSpPr>
        <p:spPr>
          <a:xfrm flipH="1" rot="10800000">
            <a:off x="1080223" y="1592297"/>
            <a:ext cx="20100" cy="117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66"/>
          <p:cNvCxnSpPr>
            <a:stCxn id="1116" idx="3"/>
            <a:endCxn id="1111" idx="7"/>
          </p:cNvCxnSpPr>
          <p:nvPr/>
        </p:nvCxnSpPr>
        <p:spPr>
          <a:xfrm flipH="1">
            <a:off x="1269626" y="544806"/>
            <a:ext cx="829200" cy="6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9" name="Google Shape;1119;p66"/>
          <p:cNvSpPr txBox="1"/>
          <p:nvPr/>
        </p:nvSpPr>
        <p:spPr>
          <a:xfrm>
            <a:off x="797344" y="3441312"/>
            <a:ext cx="579900" cy="32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025" lIns="76025" spcFirstLastPara="1" rIns="76025" wrap="square" tIns="76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13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13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0" name="Google Shape;1120;p66"/>
          <p:cNvSpPr txBox="1"/>
          <p:nvPr/>
        </p:nvSpPr>
        <p:spPr>
          <a:xfrm>
            <a:off x="2798640" y="226394"/>
            <a:ext cx="513600" cy="29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350" lIns="67350" spcFirstLastPara="1" rIns="67350" wrap="square" tIns="673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0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0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21" name="Google Shape;1121;p66"/>
          <p:cNvCxnSpPr>
            <a:stCxn id="1111" idx="6"/>
            <a:endCxn id="1116" idx="5"/>
          </p:cNvCxnSpPr>
          <p:nvPr/>
        </p:nvCxnSpPr>
        <p:spPr>
          <a:xfrm flipH="1" rot="10800000">
            <a:off x="1339886" y="544922"/>
            <a:ext cx="1059300" cy="7965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2" name="Google Shape;1122;p66"/>
          <p:cNvSpPr txBox="1"/>
          <p:nvPr/>
        </p:nvSpPr>
        <p:spPr>
          <a:xfrm rot="-1904632">
            <a:off x="1570061" y="751745"/>
            <a:ext cx="445903" cy="205303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23" name="Google Shape;1123;p66"/>
          <p:cNvSpPr txBox="1"/>
          <p:nvPr/>
        </p:nvSpPr>
        <p:spPr>
          <a:xfrm>
            <a:off x="2249142" y="1059000"/>
            <a:ext cx="16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δ* =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0.293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4" name="Google Shape;1124;p66"/>
          <p:cNvSpPr txBox="1"/>
          <p:nvPr/>
        </p:nvSpPr>
        <p:spPr>
          <a:xfrm>
            <a:off x="930379" y="4189100"/>
            <a:ext cx="24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aseline="30000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0.293 -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7"/>
          <p:cNvSpPr txBox="1"/>
          <p:nvPr>
            <p:ph idx="1" type="subTitle"/>
          </p:nvPr>
        </p:nvSpPr>
        <p:spPr>
          <a:xfrm>
            <a:off x="201375" y="117000"/>
            <a:ext cx="85206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With Existing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Heuristic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67"/>
          <p:cNvSpPr txBox="1"/>
          <p:nvPr/>
        </p:nvSpPr>
        <p:spPr>
          <a:xfrm>
            <a:off x="190962" y="829600"/>
            <a:ext cx="86820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The current heuristic estimates satisfaction loss using a one-step fallback from the lost resource to the next preferred resource.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It assumes that this next-best resource will remain available when the affected agent is eventually reassigned.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However, in overlapping ReACT-TTC, the affected agent may be reassigned only in a later round, after other cycles have already consumed that next-best resource.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As a result, the realized fallback may be lower in the preference list, making the actual satisfaction loss larger than the estimated deviation score.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5" name="Google Shape;1135;p68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6" name="Google Shape;1136;p68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7" name="Google Shape;1137;p68"/>
          <p:cNvSpPr/>
          <p:nvPr/>
        </p:nvSpPr>
        <p:spPr>
          <a:xfrm>
            <a:off x="2849433" y="143052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38" name="Google Shape;1138;p68"/>
          <p:cNvSpPr/>
          <p:nvPr/>
        </p:nvSpPr>
        <p:spPr>
          <a:xfrm>
            <a:off x="2916607" y="1551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68"/>
          <p:cNvSpPr/>
          <p:nvPr/>
        </p:nvSpPr>
        <p:spPr>
          <a:xfrm>
            <a:off x="3411039" y="1533698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68"/>
          <p:cNvSpPr/>
          <p:nvPr/>
        </p:nvSpPr>
        <p:spPr>
          <a:xfrm>
            <a:off x="95900" y="143084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41" name="Google Shape;1141;p68"/>
          <p:cNvSpPr/>
          <p:nvPr/>
        </p:nvSpPr>
        <p:spPr>
          <a:xfrm>
            <a:off x="195422" y="25164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42" name="Google Shape;1142;p68"/>
          <p:cNvSpPr txBox="1"/>
          <p:nvPr/>
        </p:nvSpPr>
        <p:spPr>
          <a:xfrm>
            <a:off x="3095435" y="1072450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68"/>
          <p:cNvSpPr/>
          <p:nvPr/>
        </p:nvSpPr>
        <p:spPr>
          <a:xfrm>
            <a:off x="507565" y="2647751"/>
            <a:ext cx="458100" cy="479400"/>
          </a:xfrm>
          <a:prstGeom prst="ellipse">
            <a:avLst/>
          </a:prstGeom>
          <a:solidFill>
            <a:schemeClr val="accent6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68"/>
          <p:cNvSpPr txBox="1"/>
          <p:nvPr/>
        </p:nvSpPr>
        <p:spPr>
          <a:xfrm>
            <a:off x="507547" y="326797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68"/>
          <p:cNvSpPr/>
          <p:nvPr/>
        </p:nvSpPr>
        <p:spPr>
          <a:xfrm>
            <a:off x="408039" y="154532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68"/>
          <p:cNvSpPr txBox="1"/>
          <p:nvPr/>
        </p:nvSpPr>
        <p:spPr>
          <a:xfrm>
            <a:off x="312237" y="107243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68"/>
          <p:cNvSpPr/>
          <p:nvPr/>
        </p:nvSpPr>
        <p:spPr>
          <a:xfrm>
            <a:off x="2983773" y="39667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48" name="Google Shape;1148;p68"/>
          <p:cNvSpPr/>
          <p:nvPr/>
        </p:nvSpPr>
        <p:spPr>
          <a:xfrm>
            <a:off x="3295916" y="40980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9" name="Google Shape;1149;p68"/>
          <p:cNvSpPr txBox="1"/>
          <p:nvPr/>
        </p:nvSpPr>
        <p:spPr>
          <a:xfrm>
            <a:off x="3363198" y="469926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68"/>
          <p:cNvSpPr/>
          <p:nvPr/>
        </p:nvSpPr>
        <p:spPr>
          <a:xfrm>
            <a:off x="1439673" y="1975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51" name="Google Shape;1151;p68"/>
          <p:cNvSpPr/>
          <p:nvPr/>
        </p:nvSpPr>
        <p:spPr>
          <a:xfrm>
            <a:off x="1751816" y="3288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68"/>
          <p:cNvSpPr txBox="1"/>
          <p:nvPr/>
        </p:nvSpPr>
        <p:spPr>
          <a:xfrm>
            <a:off x="1751798" y="949051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3" name="Google Shape;1153;p68"/>
          <p:cNvSpPr/>
          <p:nvPr/>
        </p:nvSpPr>
        <p:spPr>
          <a:xfrm>
            <a:off x="896248" y="396260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54" name="Google Shape;1154;p68"/>
          <p:cNvSpPr/>
          <p:nvPr/>
        </p:nvSpPr>
        <p:spPr>
          <a:xfrm>
            <a:off x="1208391" y="409390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5" name="Google Shape;1155;p68"/>
          <p:cNvSpPr txBox="1"/>
          <p:nvPr/>
        </p:nvSpPr>
        <p:spPr>
          <a:xfrm>
            <a:off x="245089" y="420221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6" name="Google Shape;1156;p68"/>
          <p:cNvCxnSpPr>
            <a:stCxn id="1145" idx="4"/>
            <a:endCxn id="1143" idx="0"/>
          </p:cNvCxnSpPr>
          <p:nvPr/>
        </p:nvCxnSpPr>
        <p:spPr>
          <a:xfrm>
            <a:off x="637089" y="2024723"/>
            <a:ext cx="99600" cy="6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68"/>
          <p:cNvCxnSpPr>
            <a:endCxn id="1151" idx="5"/>
          </p:cNvCxnSpPr>
          <p:nvPr/>
        </p:nvCxnSpPr>
        <p:spPr>
          <a:xfrm rot="10800000">
            <a:off x="2142829" y="738020"/>
            <a:ext cx="1002900" cy="8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8"/>
          <p:cNvCxnSpPr>
            <a:stCxn id="1143" idx="6"/>
            <a:endCxn id="1138" idx="3"/>
          </p:cNvCxnSpPr>
          <p:nvPr/>
        </p:nvCxnSpPr>
        <p:spPr>
          <a:xfrm flipH="1" rot="10800000">
            <a:off x="965665" y="1961051"/>
            <a:ext cx="2018100" cy="92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68"/>
          <p:cNvCxnSpPr>
            <a:stCxn id="1143" idx="6"/>
            <a:endCxn id="1139" idx="4"/>
          </p:cNvCxnSpPr>
          <p:nvPr/>
        </p:nvCxnSpPr>
        <p:spPr>
          <a:xfrm flipH="1" rot="10800000">
            <a:off x="965665" y="2012951"/>
            <a:ext cx="2674500" cy="8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68"/>
          <p:cNvCxnSpPr>
            <a:stCxn id="1139" idx="4"/>
            <a:endCxn id="1143" idx="5"/>
          </p:cNvCxnSpPr>
          <p:nvPr/>
        </p:nvCxnSpPr>
        <p:spPr>
          <a:xfrm rot="5400000">
            <a:off x="1747539" y="1164248"/>
            <a:ext cx="1043700" cy="2741400"/>
          </a:xfrm>
          <a:prstGeom prst="curvedConnector3">
            <a:avLst>
              <a:gd fmla="val 12955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1" name="Google Shape;1161;p68"/>
          <p:cNvCxnSpPr>
            <a:stCxn id="1151" idx="3"/>
            <a:endCxn id="1145" idx="7"/>
          </p:cNvCxnSpPr>
          <p:nvPr/>
        </p:nvCxnSpPr>
        <p:spPr>
          <a:xfrm flipH="1">
            <a:off x="798903" y="738020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68"/>
          <p:cNvCxnSpPr>
            <a:stCxn id="1148" idx="1"/>
            <a:endCxn id="1154" idx="0"/>
          </p:cNvCxnSpPr>
          <p:nvPr/>
        </p:nvCxnSpPr>
        <p:spPr>
          <a:xfrm flipH="1" rot="5400000">
            <a:off x="2362953" y="3168208"/>
            <a:ext cx="74400" cy="1925700"/>
          </a:xfrm>
          <a:prstGeom prst="curvedConnector3">
            <a:avLst>
              <a:gd fmla="val 76452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3" name="Google Shape;1163;p68"/>
          <p:cNvCxnSpPr>
            <a:stCxn id="1154" idx="4"/>
            <a:endCxn id="1148" idx="3"/>
          </p:cNvCxnSpPr>
          <p:nvPr/>
        </p:nvCxnSpPr>
        <p:spPr>
          <a:xfrm rot="-5400000">
            <a:off x="2367291" y="3577451"/>
            <a:ext cx="66000" cy="1925700"/>
          </a:xfrm>
          <a:prstGeom prst="curvedConnector3">
            <a:avLst>
              <a:gd fmla="val -74242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4" name="Google Shape;1164;p68"/>
          <p:cNvSpPr txBox="1"/>
          <p:nvPr/>
        </p:nvSpPr>
        <p:spPr>
          <a:xfrm rot="-1994615">
            <a:off x="2064954" y="1355109"/>
            <a:ext cx="459139" cy="513974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65" name="Google Shape;1165;p68"/>
          <p:cNvSpPr txBox="1"/>
          <p:nvPr/>
        </p:nvSpPr>
        <p:spPr>
          <a:xfrm>
            <a:off x="1959354" y="2662391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66" name="Google Shape;1166;p68"/>
          <p:cNvSpPr txBox="1"/>
          <p:nvPr/>
        </p:nvSpPr>
        <p:spPr>
          <a:xfrm>
            <a:off x="2095642" y="4148491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03">
              <a:solidFill>
                <a:srgbClr val="9900FF"/>
              </a:solidFill>
            </a:endParaRPr>
          </a:p>
        </p:txBody>
      </p:sp>
      <p:sp>
        <p:nvSpPr>
          <p:cNvPr id="1167" name="Google Shape;1167;p68"/>
          <p:cNvSpPr txBox="1"/>
          <p:nvPr/>
        </p:nvSpPr>
        <p:spPr>
          <a:xfrm>
            <a:off x="3048625" y="3012484"/>
            <a:ext cx="9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68"/>
          <p:cNvSpPr txBox="1"/>
          <p:nvPr/>
        </p:nvSpPr>
        <p:spPr>
          <a:xfrm rot="-1870699">
            <a:off x="925414" y="1843999"/>
            <a:ext cx="1277759" cy="4618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0.134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3" name="Google Shape;1173;p69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4" name="Google Shape;1174;p69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5" name="Google Shape;1175;p69"/>
          <p:cNvSpPr/>
          <p:nvPr/>
        </p:nvSpPr>
        <p:spPr>
          <a:xfrm>
            <a:off x="2849433" y="143052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76" name="Google Shape;1176;p69"/>
          <p:cNvSpPr/>
          <p:nvPr/>
        </p:nvSpPr>
        <p:spPr>
          <a:xfrm>
            <a:off x="2916607" y="1551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69"/>
          <p:cNvSpPr/>
          <p:nvPr/>
        </p:nvSpPr>
        <p:spPr>
          <a:xfrm>
            <a:off x="95900" y="143084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78" name="Google Shape;1178;p69"/>
          <p:cNvSpPr txBox="1"/>
          <p:nvPr/>
        </p:nvSpPr>
        <p:spPr>
          <a:xfrm>
            <a:off x="3095435" y="1072450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69"/>
          <p:cNvSpPr/>
          <p:nvPr/>
        </p:nvSpPr>
        <p:spPr>
          <a:xfrm>
            <a:off x="408039" y="154532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69"/>
          <p:cNvSpPr txBox="1"/>
          <p:nvPr/>
        </p:nvSpPr>
        <p:spPr>
          <a:xfrm>
            <a:off x="312237" y="107243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69"/>
          <p:cNvSpPr/>
          <p:nvPr/>
        </p:nvSpPr>
        <p:spPr>
          <a:xfrm>
            <a:off x="1439673" y="1975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82" name="Google Shape;1182;p69"/>
          <p:cNvSpPr/>
          <p:nvPr/>
        </p:nvSpPr>
        <p:spPr>
          <a:xfrm>
            <a:off x="1751816" y="3288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69"/>
          <p:cNvSpPr txBox="1"/>
          <p:nvPr/>
        </p:nvSpPr>
        <p:spPr>
          <a:xfrm>
            <a:off x="2627373" y="41147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4" name="Google Shape;1184;p69"/>
          <p:cNvCxnSpPr>
            <a:endCxn id="1182" idx="5"/>
          </p:cNvCxnSpPr>
          <p:nvPr/>
        </p:nvCxnSpPr>
        <p:spPr>
          <a:xfrm rot="10800000">
            <a:off x="2142829" y="738020"/>
            <a:ext cx="1002900" cy="8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5" name="Google Shape;1185;p69"/>
          <p:cNvCxnSpPr>
            <a:stCxn id="1182" idx="3"/>
            <a:endCxn id="1179" idx="7"/>
          </p:cNvCxnSpPr>
          <p:nvPr/>
        </p:nvCxnSpPr>
        <p:spPr>
          <a:xfrm flipH="1">
            <a:off x="798903" y="738020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6" name="Google Shape;1186;p69"/>
          <p:cNvSpPr txBox="1"/>
          <p:nvPr/>
        </p:nvSpPr>
        <p:spPr>
          <a:xfrm rot="-1994615">
            <a:off x="1274929" y="1017734"/>
            <a:ext cx="459139" cy="513974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" sz="1869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103">
              <a:solidFill>
                <a:srgbClr val="9900FF"/>
              </a:solidFill>
            </a:endParaRPr>
          </a:p>
        </p:txBody>
      </p:sp>
      <p:cxnSp>
        <p:nvCxnSpPr>
          <p:cNvPr id="1187" name="Google Shape;1187;p69"/>
          <p:cNvCxnSpPr>
            <a:stCxn id="1179" idx="6"/>
            <a:endCxn id="1182" idx="5"/>
          </p:cNvCxnSpPr>
          <p:nvPr/>
        </p:nvCxnSpPr>
        <p:spPr>
          <a:xfrm flipH="1" rot="10800000">
            <a:off x="866139" y="738023"/>
            <a:ext cx="1276800" cy="1047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2" name="Google Shape;1192;p70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3" name="Google Shape;1193;p70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4" name="Google Shape;1194;p70"/>
          <p:cNvSpPr/>
          <p:nvPr/>
        </p:nvSpPr>
        <p:spPr>
          <a:xfrm>
            <a:off x="1255233" y="127347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195" name="Google Shape;1195;p70"/>
          <p:cNvSpPr/>
          <p:nvPr/>
        </p:nvSpPr>
        <p:spPr>
          <a:xfrm>
            <a:off x="1519382" y="1387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70"/>
          <p:cNvSpPr txBox="1"/>
          <p:nvPr/>
        </p:nvSpPr>
        <p:spPr>
          <a:xfrm>
            <a:off x="1471532" y="2062485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7" name="Google Shape;1197;p70"/>
          <p:cNvCxnSpPr/>
          <p:nvPr/>
        </p:nvCxnSpPr>
        <p:spPr>
          <a:xfrm flipH="1" rot="-5400000">
            <a:off x="1748134" y="1290299"/>
            <a:ext cx="600" cy="279300"/>
          </a:xfrm>
          <a:prstGeom prst="curvedConnector3">
            <a:avLst>
              <a:gd fmla="val -93030621" name="adj1"/>
            </a:avLst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71"/>
          <p:cNvSpPr txBox="1"/>
          <p:nvPr>
            <p:ph type="ctrTitle"/>
          </p:nvPr>
        </p:nvSpPr>
        <p:spPr>
          <a:xfrm>
            <a:off x="764951" y="1434300"/>
            <a:ext cx="7876500" cy="8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Based Examples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7" name="Google Shape;1207;p72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8" name="Google Shape;1208;p72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9" name="Google Shape;1209;p72"/>
          <p:cNvSpPr/>
          <p:nvPr/>
        </p:nvSpPr>
        <p:spPr>
          <a:xfrm>
            <a:off x="2849433" y="143052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10" name="Google Shape;1210;p72"/>
          <p:cNvSpPr/>
          <p:nvPr/>
        </p:nvSpPr>
        <p:spPr>
          <a:xfrm>
            <a:off x="2916607" y="1551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72"/>
          <p:cNvSpPr/>
          <p:nvPr/>
        </p:nvSpPr>
        <p:spPr>
          <a:xfrm>
            <a:off x="3411039" y="1533698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72"/>
          <p:cNvSpPr/>
          <p:nvPr/>
        </p:nvSpPr>
        <p:spPr>
          <a:xfrm>
            <a:off x="95900" y="143084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13" name="Google Shape;1213;p72"/>
          <p:cNvSpPr/>
          <p:nvPr/>
        </p:nvSpPr>
        <p:spPr>
          <a:xfrm>
            <a:off x="195422" y="25164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14" name="Google Shape;1214;p72"/>
          <p:cNvSpPr txBox="1"/>
          <p:nvPr/>
        </p:nvSpPr>
        <p:spPr>
          <a:xfrm>
            <a:off x="3095435" y="1072450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72"/>
          <p:cNvSpPr/>
          <p:nvPr/>
        </p:nvSpPr>
        <p:spPr>
          <a:xfrm>
            <a:off x="507565" y="26477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6" name="Google Shape;1216;p72"/>
          <p:cNvSpPr txBox="1"/>
          <p:nvPr/>
        </p:nvSpPr>
        <p:spPr>
          <a:xfrm>
            <a:off x="507547" y="326797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7" name="Google Shape;1217;p72"/>
          <p:cNvSpPr/>
          <p:nvPr/>
        </p:nvSpPr>
        <p:spPr>
          <a:xfrm>
            <a:off x="408039" y="154532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8" name="Google Shape;1218;p72"/>
          <p:cNvSpPr txBox="1"/>
          <p:nvPr/>
        </p:nvSpPr>
        <p:spPr>
          <a:xfrm>
            <a:off x="312237" y="107243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72"/>
          <p:cNvSpPr/>
          <p:nvPr/>
        </p:nvSpPr>
        <p:spPr>
          <a:xfrm>
            <a:off x="2983773" y="39667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20" name="Google Shape;1220;p72"/>
          <p:cNvSpPr/>
          <p:nvPr/>
        </p:nvSpPr>
        <p:spPr>
          <a:xfrm>
            <a:off x="3295916" y="40980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72"/>
          <p:cNvSpPr txBox="1"/>
          <p:nvPr/>
        </p:nvSpPr>
        <p:spPr>
          <a:xfrm>
            <a:off x="3363198" y="469926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72"/>
          <p:cNvSpPr/>
          <p:nvPr/>
        </p:nvSpPr>
        <p:spPr>
          <a:xfrm>
            <a:off x="1439673" y="1975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23" name="Google Shape;1223;p72"/>
          <p:cNvSpPr/>
          <p:nvPr/>
        </p:nvSpPr>
        <p:spPr>
          <a:xfrm>
            <a:off x="1751816" y="3288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4" name="Google Shape;1224;p72"/>
          <p:cNvSpPr txBox="1"/>
          <p:nvPr/>
        </p:nvSpPr>
        <p:spPr>
          <a:xfrm>
            <a:off x="1751798" y="949051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5" name="Google Shape;1225;p72"/>
          <p:cNvSpPr/>
          <p:nvPr/>
        </p:nvSpPr>
        <p:spPr>
          <a:xfrm>
            <a:off x="896248" y="396260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26" name="Google Shape;1226;p72"/>
          <p:cNvSpPr/>
          <p:nvPr/>
        </p:nvSpPr>
        <p:spPr>
          <a:xfrm>
            <a:off x="1208391" y="409390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72"/>
          <p:cNvSpPr txBox="1"/>
          <p:nvPr/>
        </p:nvSpPr>
        <p:spPr>
          <a:xfrm>
            <a:off x="245089" y="420221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28" name="Google Shape;1228;p72"/>
          <p:cNvCxnSpPr>
            <a:stCxn id="1217" idx="4"/>
            <a:endCxn id="1215" idx="0"/>
          </p:cNvCxnSpPr>
          <p:nvPr/>
        </p:nvCxnSpPr>
        <p:spPr>
          <a:xfrm>
            <a:off x="637089" y="2024723"/>
            <a:ext cx="99600" cy="6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72"/>
          <p:cNvCxnSpPr>
            <a:stCxn id="1210" idx="2"/>
            <a:endCxn id="1217" idx="6"/>
          </p:cNvCxnSpPr>
          <p:nvPr/>
        </p:nvCxnSpPr>
        <p:spPr>
          <a:xfrm rot="10800000">
            <a:off x="866107" y="1785026"/>
            <a:ext cx="2050500" cy="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72"/>
          <p:cNvCxnSpPr>
            <a:stCxn id="1215" idx="6"/>
            <a:endCxn id="1210" idx="3"/>
          </p:cNvCxnSpPr>
          <p:nvPr/>
        </p:nvCxnSpPr>
        <p:spPr>
          <a:xfrm flipH="1" rot="10800000">
            <a:off x="965665" y="1961051"/>
            <a:ext cx="2018100" cy="92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72"/>
          <p:cNvCxnSpPr>
            <a:stCxn id="1215" idx="6"/>
            <a:endCxn id="1211" idx="4"/>
          </p:cNvCxnSpPr>
          <p:nvPr/>
        </p:nvCxnSpPr>
        <p:spPr>
          <a:xfrm flipH="1" rot="10800000">
            <a:off x="965665" y="2012951"/>
            <a:ext cx="2674500" cy="8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72"/>
          <p:cNvCxnSpPr>
            <a:stCxn id="1211" idx="4"/>
            <a:endCxn id="1215" idx="5"/>
          </p:cNvCxnSpPr>
          <p:nvPr/>
        </p:nvCxnSpPr>
        <p:spPr>
          <a:xfrm rot="5400000">
            <a:off x="1747539" y="1164248"/>
            <a:ext cx="1043700" cy="2741400"/>
          </a:xfrm>
          <a:prstGeom prst="curvedConnector3">
            <a:avLst>
              <a:gd fmla="val 12955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3" name="Google Shape;1233;p72"/>
          <p:cNvCxnSpPr>
            <a:stCxn id="1223" idx="3"/>
            <a:endCxn id="1217" idx="7"/>
          </p:cNvCxnSpPr>
          <p:nvPr/>
        </p:nvCxnSpPr>
        <p:spPr>
          <a:xfrm flipH="1">
            <a:off x="798903" y="738020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72"/>
          <p:cNvCxnSpPr>
            <a:stCxn id="1220" idx="1"/>
            <a:endCxn id="1226" idx="0"/>
          </p:cNvCxnSpPr>
          <p:nvPr/>
        </p:nvCxnSpPr>
        <p:spPr>
          <a:xfrm flipH="1" rot="5400000">
            <a:off x="2362953" y="3168208"/>
            <a:ext cx="74400" cy="1925700"/>
          </a:xfrm>
          <a:prstGeom prst="curvedConnector3">
            <a:avLst>
              <a:gd fmla="val 42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5" name="Google Shape;1235;p72"/>
          <p:cNvCxnSpPr>
            <a:stCxn id="1226" idx="4"/>
            <a:endCxn id="1220" idx="3"/>
          </p:cNvCxnSpPr>
          <p:nvPr/>
        </p:nvCxnSpPr>
        <p:spPr>
          <a:xfrm rot="-5400000">
            <a:off x="2367291" y="3577451"/>
            <a:ext cx="66000" cy="1925700"/>
          </a:xfrm>
          <a:prstGeom prst="curvedConnector3">
            <a:avLst>
              <a:gd fmla="val -3670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6" name="Google Shape;1236;p72"/>
          <p:cNvSpPr txBox="1"/>
          <p:nvPr/>
        </p:nvSpPr>
        <p:spPr>
          <a:xfrm>
            <a:off x="1395498" y="1882797"/>
            <a:ext cx="4593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2103">
              <a:solidFill>
                <a:schemeClr val="dk1"/>
              </a:solidFill>
            </a:endParaRPr>
          </a:p>
        </p:txBody>
      </p:sp>
      <p:sp>
        <p:nvSpPr>
          <p:cNvPr id="1237" name="Google Shape;1237;p72"/>
          <p:cNvSpPr txBox="1"/>
          <p:nvPr/>
        </p:nvSpPr>
        <p:spPr>
          <a:xfrm rot="-2247">
            <a:off x="1877722" y="2764229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2103">
              <a:solidFill>
                <a:schemeClr val="dk1"/>
              </a:solidFill>
            </a:endParaRPr>
          </a:p>
        </p:txBody>
      </p:sp>
      <p:sp>
        <p:nvSpPr>
          <p:cNvPr id="1238" name="Google Shape;1238;p72"/>
          <p:cNvSpPr txBox="1"/>
          <p:nvPr/>
        </p:nvSpPr>
        <p:spPr>
          <a:xfrm rot="-2247">
            <a:off x="2095635" y="4148654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210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3" name="Google Shape;1243;p73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4" name="Google Shape;1244;p73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5" name="Google Shape;1245;p73"/>
          <p:cNvSpPr/>
          <p:nvPr/>
        </p:nvSpPr>
        <p:spPr>
          <a:xfrm>
            <a:off x="2849433" y="143052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46" name="Google Shape;1246;p73"/>
          <p:cNvSpPr/>
          <p:nvPr/>
        </p:nvSpPr>
        <p:spPr>
          <a:xfrm>
            <a:off x="2916607" y="1551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73"/>
          <p:cNvSpPr/>
          <p:nvPr/>
        </p:nvSpPr>
        <p:spPr>
          <a:xfrm>
            <a:off x="3411039" y="1533698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73"/>
          <p:cNvSpPr/>
          <p:nvPr/>
        </p:nvSpPr>
        <p:spPr>
          <a:xfrm>
            <a:off x="95900" y="143084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49" name="Google Shape;1249;p73"/>
          <p:cNvSpPr/>
          <p:nvPr/>
        </p:nvSpPr>
        <p:spPr>
          <a:xfrm>
            <a:off x="195422" y="25164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50" name="Google Shape;1250;p73"/>
          <p:cNvSpPr txBox="1"/>
          <p:nvPr/>
        </p:nvSpPr>
        <p:spPr>
          <a:xfrm>
            <a:off x="3095435" y="1072450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73"/>
          <p:cNvSpPr/>
          <p:nvPr/>
        </p:nvSpPr>
        <p:spPr>
          <a:xfrm>
            <a:off x="507565" y="26477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73"/>
          <p:cNvSpPr txBox="1"/>
          <p:nvPr/>
        </p:nvSpPr>
        <p:spPr>
          <a:xfrm>
            <a:off x="507547" y="326797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3" name="Google Shape;1253;p73"/>
          <p:cNvSpPr/>
          <p:nvPr/>
        </p:nvSpPr>
        <p:spPr>
          <a:xfrm>
            <a:off x="408039" y="154532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73"/>
          <p:cNvSpPr txBox="1"/>
          <p:nvPr/>
        </p:nvSpPr>
        <p:spPr>
          <a:xfrm>
            <a:off x="312237" y="107243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73"/>
          <p:cNvSpPr/>
          <p:nvPr/>
        </p:nvSpPr>
        <p:spPr>
          <a:xfrm>
            <a:off x="2983773" y="39667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56" name="Google Shape;1256;p73"/>
          <p:cNvSpPr/>
          <p:nvPr/>
        </p:nvSpPr>
        <p:spPr>
          <a:xfrm>
            <a:off x="3295916" y="40980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73"/>
          <p:cNvSpPr txBox="1"/>
          <p:nvPr/>
        </p:nvSpPr>
        <p:spPr>
          <a:xfrm>
            <a:off x="3363198" y="469926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8" name="Google Shape;1258;p73"/>
          <p:cNvSpPr/>
          <p:nvPr/>
        </p:nvSpPr>
        <p:spPr>
          <a:xfrm>
            <a:off x="1439673" y="1975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59" name="Google Shape;1259;p73"/>
          <p:cNvSpPr/>
          <p:nvPr/>
        </p:nvSpPr>
        <p:spPr>
          <a:xfrm>
            <a:off x="1751816" y="3288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73"/>
          <p:cNvSpPr txBox="1"/>
          <p:nvPr/>
        </p:nvSpPr>
        <p:spPr>
          <a:xfrm>
            <a:off x="1751798" y="949051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1" name="Google Shape;1261;p73"/>
          <p:cNvSpPr/>
          <p:nvPr/>
        </p:nvSpPr>
        <p:spPr>
          <a:xfrm>
            <a:off x="896248" y="396260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62" name="Google Shape;1262;p73"/>
          <p:cNvSpPr/>
          <p:nvPr/>
        </p:nvSpPr>
        <p:spPr>
          <a:xfrm>
            <a:off x="1208391" y="409390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73"/>
          <p:cNvSpPr txBox="1"/>
          <p:nvPr/>
        </p:nvSpPr>
        <p:spPr>
          <a:xfrm>
            <a:off x="245089" y="420221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4" name="Google Shape;1264;p73"/>
          <p:cNvCxnSpPr>
            <a:stCxn id="1253" idx="4"/>
            <a:endCxn id="1251" idx="0"/>
          </p:cNvCxnSpPr>
          <p:nvPr/>
        </p:nvCxnSpPr>
        <p:spPr>
          <a:xfrm>
            <a:off x="637089" y="2024723"/>
            <a:ext cx="99600" cy="6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73"/>
          <p:cNvCxnSpPr>
            <a:stCxn id="1251" idx="6"/>
            <a:endCxn id="1246" idx="3"/>
          </p:cNvCxnSpPr>
          <p:nvPr/>
        </p:nvCxnSpPr>
        <p:spPr>
          <a:xfrm flipH="1" rot="10800000">
            <a:off x="965665" y="1961051"/>
            <a:ext cx="2018100" cy="92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73"/>
          <p:cNvCxnSpPr>
            <a:stCxn id="1251" idx="6"/>
            <a:endCxn id="1247" idx="4"/>
          </p:cNvCxnSpPr>
          <p:nvPr/>
        </p:nvCxnSpPr>
        <p:spPr>
          <a:xfrm flipH="1" rot="10800000">
            <a:off x="965665" y="2012951"/>
            <a:ext cx="2674500" cy="8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7" name="Google Shape;1267;p73"/>
          <p:cNvCxnSpPr>
            <a:stCxn id="1247" idx="4"/>
            <a:endCxn id="1251" idx="5"/>
          </p:cNvCxnSpPr>
          <p:nvPr/>
        </p:nvCxnSpPr>
        <p:spPr>
          <a:xfrm rot="5400000">
            <a:off x="1747539" y="1164248"/>
            <a:ext cx="1043700" cy="2741400"/>
          </a:xfrm>
          <a:prstGeom prst="curvedConnector3">
            <a:avLst>
              <a:gd fmla="val 12955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8" name="Google Shape;1268;p73"/>
          <p:cNvCxnSpPr>
            <a:stCxn id="1256" idx="1"/>
            <a:endCxn id="1262" idx="0"/>
          </p:cNvCxnSpPr>
          <p:nvPr/>
        </p:nvCxnSpPr>
        <p:spPr>
          <a:xfrm flipH="1" rot="5400000">
            <a:off x="2362953" y="3168208"/>
            <a:ext cx="74400" cy="1925700"/>
          </a:xfrm>
          <a:prstGeom prst="curvedConnector3">
            <a:avLst>
              <a:gd fmla="val 58307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9" name="Google Shape;1269;p73"/>
          <p:cNvCxnSpPr>
            <a:stCxn id="1262" idx="4"/>
            <a:endCxn id="1256" idx="3"/>
          </p:cNvCxnSpPr>
          <p:nvPr/>
        </p:nvCxnSpPr>
        <p:spPr>
          <a:xfrm rot="-5400000">
            <a:off x="2367291" y="3577451"/>
            <a:ext cx="66000" cy="1925700"/>
          </a:xfrm>
          <a:prstGeom prst="curvedConnector3">
            <a:avLst>
              <a:gd fmla="val -55041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0" name="Google Shape;1270;p73"/>
          <p:cNvSpPr txBox="1"/>
          <p:nvPr/>
        </p:nvSpPr>
        <p:spPr>
          <a:xfrm rot="-2247">
            <a:off x="2095622" y="2710704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2103">
              <a:solidFill>
                <a:schemeClr val="dk1"/>
              </a:solidFill>
            </a:endParaRPr>
          </a:p>
        </p:txBody>
      </p:sp>
      <p:sp>
        <p:nvSpPr>
          <p:cNvPr id="1271" name="Google Shape;1271;p73"/>
          <p:cNvSpPr txBox="1"/>
          <p:nvPr/>
        </p:nvSpPr>
        <p:spPr>
          <a:xfrm rot="-2247">
            <a:off x="2095635" y="4148654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2103">
              <a:solidFill>
                <a:schemeClr val="dk1"/>
              </a:solidFill>
            </a:endParaRPr>
          </a:p>
        </p:txBody>
      </p:sp>
      <p:cxnSp>
        <p:nvCxnSpPr>
          <p:cNvPr id="1272" name="Google Shape;1272;p73"/>
          <p:cNvCxnSpPr>
            <a:stCxn id="1246" idx="0"/>
            <a:endCxn id="1259" idx="5"/>
          </p:cNvCxnSpPr>
          <p:nvPr/>
        </p:nvCxnSpPr>
        <p:spPr>
          <a:xfrm rot="10800000">
            <a:off x="2142757" y="738026"/>
            <a:ext cx="1002900" cy="81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3" name="Google Shape;1273;p73"/>
          <p:cNvCxnSpPr>
            <a:stCxn id="1259" idx="3"/>
            <a:endCxn id="1253" idx="7"/>
          </p:cNvCxnSpPr>
          <p:nvPr/>
        </p:nvCxnSpPr>
        <p:spPr>
          <a:xfrm flipH="1">
            <a:off x="798903" y="738020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4" name="Google Shape;1274;p73"/>
          <p:cNvSpPr txBox="1"/>
          <p:nvPr/>
        </p:nvSpPr>
        <p:spPr>
          <a:xfrm rot="-2247">
            <a:off x="1563560" y="1608654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210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9" name="Google Shape;1279;p74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0" name="Google Shape;1280;p74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1" name="Google Shape;1281;p74"/>
          <p:cNvSpPr/>
          <p:nvPr/>
        </p:nvSpPr>
        <p:spPr>
          <a:xfrm>
            <a:off x="2849433" y="1430523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82" name="Google Shape;1282;p74"/>
          <p:cNvSpPr/>
          <p:nvPr/>
        </p:nvSpPr>
        <p:spPr>
          <a:xfrm>
            <a:off x="2916607" y="15519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74"/>
          <p:cNvSpPr/>
          <p:nvPr/>
        </p:nvSpPr>
        <p:spPr>
          <a:xfrm>
            <a:off x="95900" y="143084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84" name="Google Shape;1284;p74"/>
          <p:cNvSpPr txBox="1"/>
          <p:nvPr/>
        </p:nvSpPr>
        <p:spPr>
          <a:xfrm>
            <a:off x="3095435" y="1072450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74"/>
          <p:cNvSpPr/>
          <p:nvPr/>
        </p:nvSpPr>
        <p:spPr>
          <a:xfrm>
            <a:off x="408039" y="154532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74"/>
          <p:cNvSpPr txBox="1"/>
          <p:nvPr/>
        </p:nvSpPr>
        <p:spPr>
          <a:xfrm>
            <a:off x="312237" y="1072439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74"/>
          <p:cNvSpPr/>
          <p:nvPr/>
        </p:nvSpPr>
        <p:spPr>
          <a:xfrm>
            <a:off x="1439673" y="1975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288" name="Google Shape;1288;p74"/>
          <p:cNvSpPr/>
          <p:nvPr/>
        </p:nvSpPr>
        <p:spPr>
          <a:xfrm>
            <a:off x="1751816" y="3288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74"/>
          <p:cNvSpPr txBox="1"/>
          <p:nvPr/>
        </p:nvSpPr>
        <p:spPr>
          <a:xfrm>
            <a:off x="1751798" y="949051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0" name="Google Shape;1290;p74"/>
          <p:cNvCxnSpPr>
            <a:stCxn id="1282" idx="0"/>
            <a:endCxn id="1288" idx="5"/>
          </p:cNvCxnSpPr>
          <p:nvPr/>
        </p:nvCxnSpPr>
        <p:spPr>
          <a:xfrm rot="10800000">
            <a:off x="2142757" y="738026"/>
            <a:ext cx="1002900" cy="81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74"/>
          <p:cNvCxnSpPr>
            <a:stCxn id="1288" idx="3"/>
            <a:endCxn id="1285" idx="7"/>
          </p:cNvCxnSpPr>
          <p:nvPr/>
        </p:nvCxnSpPr>
        <p:spPr>
          <a:xfrm flipH="1">
            <a:off x="798903" y="738020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2" name="Google Shape;1292;p74"/>
          <p:cNvCxnSpPr/>
          <p:nvPr/>
        </p:nvCxnSpPr>
        <p:spPr>
          <a:xfrm flipH="1" rot="-5400000">
            <a:off x="588834" y="1284412"/>
            <a:ext cx="600" cy="279300"/>
          </a:xfrm>
          <a:prstGeom prst="curvedConnector3">
            <a:avLst>
              <a:gd fmla="val -93030621" name="adj1"/>
            </a:avLst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7" name="Google Shape;1297;p75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8" name="Google Shape;1298;p75"/>
          <p:cNvGraphicFramePr/>
          <p:nvPr/>
        </p:nvGraphicFramePr>
        <p:xfrm>
          <a:off x="4678450" y="41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9" name="Google Shape;1299;p75"/>
          <p:cNvSpPr/>
          <p:nvPr/>
        </p:nvSpPr>
        <p:spPr>
          <a:xfrm>
            <a:off x="2553833" y="2780448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00" name="Google Shape;1300;p75"/>
          <p:cNvSpPr/>
          <p:nvPr/>
        </p:nvSpPr>
        <p:spPr>
          <a:xfrm>
            <a:off x="2621007" y="29018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1" name="Google Shape;1301;p75"/>
          <p:cNvSpPr txBox="1"/>
          <p:nvPr/>
        </p:nvSpPr>
        <p:spPr>
          <a:xfrm>
            <a:off x="2799835" y="2422375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75"/>
          <p:cNvSpPr/>
          <p:nvPr/>
        </p:nvSpPr>
        <p:spPr>
          <a:xfrm>
            <a:off x="1144073" y="154745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03" name="Google Shape;1303;p75"/>
          <p:cNvSpPr/>
          <p:nvPr/>
        </p:nvSpPr>
        <p:spPr>
          <a:xfrm>
            <a:off x="1456216" y="167875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75"/>
          <p:cNvSpPr txBox="1"/>
          <p:nvPr/>
        </p:nvSpPr>
        <p:spPr>
          <a:xfrm>
            <a:off x="1456198" y="229897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5" name="Google Shape;1305;p75"/>
          <p:cNvCxnSpPr>
            <a:stCxn id="1300" idx="0"/>
            <a:endCxn id="1303" idx="5"/>
          </p:cNvCxnSpPr>
          <p:nvPr/>
        </p:nvCxnSpPr>
        <p:spPr>
          <a:xfrm rot="10800000">
            <a:off x="1847157" y="2087951"/>
            <a:ext cx="1002900" cy="81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6" name="Google Shape;1306;p75"/>
          <p:cNvCxnSpPr/>
          <p:nvPr/>
        </p:nvCxnSpPr>
        <p:spPr>
          <a:xfrm flipH="1" rot="-5400000">
            <a:off x="1684834" y="1573362"/>
            <a:ext cx="600" cy="279300"/>
          </a:xfrm>
          <a:prstGeom prst="curvedConnector3">
            <a:avLst>
              <a:gd fmla="val -93030621" name="adj1"/>
            </a:avLst>
          </a:prstGeom>
          <a:noFill/>
          <a:ln cap="flat" cmpd="sng" w="13050">
            <a:solidFill>
              <a:srgbClr val="073763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6"/>
          <p:cNvSpPr txBox="1"/>
          <p:nvPr>
            <p:ph idx="1" type="subTitle"/>
          </p:nvPr>
        </p:nvSpPr>
        <p:spPr>
          <a:xfrm>
            <a:off x="311700" y="1829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Heuristic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77"/>
          <p:cNvGraphicFramePr/>
          <p:nvPr/>
        </p:nvGraphicFramePr>
        <p:xfrm>
          <a:off x="4678475" y="30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907775"/>
                <a:gridCol w="988000"/>
                <a:gridCol w="1790000"/>
              </a:tblGrid>
              <a:tr h="302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ѡ(a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baseline="-25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rgbClr val="07376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r</a:t>
                      </a:r>
                      <a:r>
                        <a:rPr b="1" baseline="-25000"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baseline="-25000">
                        <a:solidFill>
                          <a:srgbClr val="07376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7" name="Google Shape;1317;p77"/>
          <p:cNvGraphicFramePr/>
          <p:nvPr/>
        </p:nvGraphicFramePr>
        <p:xfrm>
          <a:off x="4737583" y="323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{8515EDCE-C314-4593-B3D5-222ACCC287B5}</a:tableStyleId>
              </a:tblPr>
              <a:tblGrid>
                <a:gridCol w="614300"/>
                <a:gridCol w="614300"/>
                <a:gridCol w="614300"/>
                <a:gridCol w="614300"/>
                <a:gridCol w="614300"/>
                <a:gridCol w="614300"/>
              </a:tblGrid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r>
                        <a:rPr b="1" baseline="-25000"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8" name="Google Shape;1318;p77"/>
          <p:cNvSpPr/>
          <p:nvPr/>
        </p:nvSpPr>
        <p:spPr>
          <a:xfrm>
            <a:off x="3046508" y="1982298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19" name="Google Shape;1319;p77"/>
          <p:cNvSpPr/>
          <p:nvPr/>
        </p:nvSpPr>
        <p:spPr>
          <a:xfrm>
            <a:off x="3113682" y="210370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0" name="Google Shape;1320;p77"/>
          <p:cNvSpPr/>
          <p:nvPr/>
        </p:nvSpPr>
        <p:spPr>
          <a:xfrm>
            <a:off x="3608114" y="2085473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77"/>
          <p:cNvSpPr/>
          <p:nvPr/>
        </p:nvSpPr>
        <p:spPr>
          <a:xfrm>
            <a:off x="292975" y="198261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22" name="Google Shape;1322;p77"/>
          <p:cNvSpPr/>
          <p:nvPr/>
        </p:nvSpPr>
        <p:spPr>
          <a:xfrm>
            <a:off x="392497" y="3068229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23" name="Google Shape;1323;p77"/>
          <p:cNvSpPr txBox="1"/>
          <p:nvPr/>
        </p:nvSpPr>
        <p:spPr>
          <a:xfrm>
            <a:off x="3292510" y="1624225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4" name="Google Shape;1324;p77"/>
          <p:cNvSpPr/>
          <p:nvPr/>
        </p:nvSpPr>
        <p:spPr>
          <a:xfrm>
            <a:off x="704640" y="3199526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5" name="Google Shape;1325;p77"/>
          <p:cNvSpPr txBox="1"/>
          <p:nvPr/>
        </p:nvSpPr>
        <p:spPr>
          <a:xfrm>
            <a:off x="704622" y="3819751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77"/>
          <p:cNvSpPr/>
          <p:nvPr/>
        </p:nvSpPr>
        <p:spPr>
          <a:xfrm>
            <a:off x="605114" y="2097098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77"/>
          <p:cNvSpPr txBox="1"/>
          <p:nvPr/>
        </p:nvSpPr>
        <p:spPr>
          <a:xfrm>
            <a:off x="509312" y="1624214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77"/>
          <p:cNvSpPr/>
          <p:nvPr/>
        </p:nvSpPr>
        <p:spPr>
          <a:xfrm>
            <a:off x="1636748" y="749304"/>
            <a:ext cx="1082100" cy="708300"/>
          </a:xfrm>
          <a:prstGeom prst="ellipse">
            <a:avLst/>
          </a:prstGeom>
          <a:solidFill>
            <a:schemeClr val="lt2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12">
              <a:solidFill>
                <a:schemeClr val="dk1"/>
              </a:solidFill>
            </a:endParaRPr>
          </a:p>
        </p:txBody>
      </p:sp>
      <p:sp>
        <p:nvSpPr>
          <p:cNvPr id="1329" name="Google Shape;1329;p77"/>
          <p:cNvSpPr/>
          <p:nvPr/>
        </p:nvSpPr>
        <p:spPr>
          <a:xfrm>
            <a:off x="1948891" y="880601"/>
            <a:ext cx="458100" cy="479400"/>
          </a:xfrm>
          <a:prstGeom prst="ellipse">
            <a:avLst/>
          </a:prstGeom>
          <a:solidFill>
            <a:srgbClr val="CFE2F3"/>
          </a:solidFill>
          <a:ln cap="flat" cmpd="sng" w="151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25" lIns="72625" spcFirstLastPara="1" rIns="72625" wrap="square" tIns="7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4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 sz="1384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aseline="-25000" sz="1384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77"/>
          <p:cNvSpPr txBox="1"/>
          <p:nvPr/>
        </p:nvSpPr>
        <p:spPr>
          <a:xfrm>
            <a:off x="1948873" y="1500826"/>
            <a:ext cx="553800" cy="31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625" lIns="72625" spcFirstLastPara="1" rIns="72625" wrap="square" tIns="72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" sz="108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0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1" name="Google Shape;1331;p77"/>
          <p:cNvCxnSpPr>
            <a:stCxn id="1326" idx="4"/>
            <a:endCxn id="1324" idx="0"/>
          </p:cNvCxnSpPr>
          <p:nvPr/>
        </p:nvCxnSpPr>
        <p:spPr>
          <a:xfrm>
            <a:off x="834164" y="2576498"/>
            <a:ext cx="99600" cy="6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77"/>
          <p:cNvCxnSpPr>
            <a:stCxn id="1319" idx="0"/>
            <a:endCxn id="1329" idx="6"/>
          </p:cNvCxnSpPr>
          <p:nvPr/>
        </p:nvCxnSpPr>
        <p:spPr>
          <a:xfrm rot="10800000">
            <a:off x="2407032" y="1120301"/>
            <a:ext cx="935700" cy="98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3" name="Google Shape;1333;p77"/>
          <p:cNvCxnSpPr>
            <a:stCxn id="1324" idx="6"/>
            <a:endCxn id="1319" idx="3"/>
          </p:cNvCxnSpPr>
          <p:nvPr/>
        </p:nvCxnSpPr>
        <p:spPr>
          <a:xfrm flipH="1" rot="10800000">
            <a:off x="1162740" y="2512826"/>
            <a:ext cx="2018100" cy="92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77"/>
          <p:cNvCxnSpPr>
            <a:stCxn id="1324" idx="6"/>
            <a:endCxn id="1320" idx="4"/>
          </p:cNvCxnSpPr>
          <p:nvPr/>
        </p:nvCxnSpPr>
        <p:spPr>
          <a:xfrm flipH="1" rot="10800000">
            <a:off x="1162740" y="2564726"/>
            <a:ext cx="2674500" cy="8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77"/>
          <p:cNvCxnSpPr>
            <a:stCxn id="1320" idx="4"/>
            <a:endCxn id="1324" idx="5"/>
          </p:cNvCxnSpPr>
          <p:nvPr/>
        </p:nvCxnSpPr>
        <p:spPr>
          <a:xfrm rot="5400000">
            <a:off x="1944614" y="1716023"/>
            <a:ext cx="1043700" cy="2741400"/>
          </a:xfrm>
          <a:prstGeom prst="curvedConnector3">
            <a:avLst>
              <a:gd fmla="val 12955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6" name="Google Shape;1336;p77"/>
          <p:cNvCxnSpPr>
            <a:stCxn id="1329" idx="3"/>
            <a:endCxn id="1326" idx="7"/>
          </p:cNvCxnSpPr>
          <p:nvPr/>
        </p:nvCxnSpPr>
        <p:spPr>
          <a:xfrm flipH="1">
            <a:off x="995978" y="1289795"/>
            <a:ext cx="1020000" cy="87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7" name="Google Shape;1337;p77"/>
          <p:cNvSpPr txBox="1"/>
          <p:nvPr/>
        </p:nvSpPr>
        <p:spPr>
          <a:xfrm>
            <a:off x="1708848" y="2086447"/>
            <a:ext cx="4593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2103">
              <a:solidFill>
                <a:schemeClr val="dk1"/>
              </a:solidFill>
            </a:endParaRPr>
          </a:p>
        </p:txBody>
      </p:sp>
      <p:sp>
        <p:nvSpPr>
          <p:cNvPr id="1338" name="Google Shape;1338;p77"/>
          <p:cNvSpPr txBox="1"/>
          <p:nvPr/>
        </p:nvSpPr>
        <p:spPr>
          <a:xfrm rot="-2247">
            <a:off x="2236972" y="3233479"/>
            <a:ext cx="459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2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baseline="-25000" lang="en" sz="186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210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